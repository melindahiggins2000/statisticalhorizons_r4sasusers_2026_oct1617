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70" r:id="rId4"/>
    <p:sldId id="258" r:id="rId5"/>
    <p:sldId id="259" r:id="rId6"/>
    <p:sldId id="285" r:id="rId7"/>
    <p:sldId id="260" r:id="rId8"/>
    <p:sldId id="262" r:id="rId9"/>
    <p:sldId id="283" r:id="rId10"/>
    <p:sldId id="282" r:id="rId11"/>
    <p:sldId id="284" r:id="rId12"/>
    <p:sldId id="287" r:id="rId13"/>
    <p:sldId id="288" r:id="rId14"/>
    <p:sldId id="261" r:id="rId15"/>
    <p:sldId id="266" r:id="rId16"/>
    <p:sldId id="286" r:id="rId17"/>
    <p:sldId id="281" r:id="rId18"/>
    <p:sldId id="265" r:id="rId19"/>
    <p:sldId id="264" r:id="rId20"/>
    <p:sldId id="263" r:id="rId21"/>
    <p:sldId id="267" r:id="rId22"/>
    <p:sldId id="296" r:id="rId23"/>
    <p:sldId id="297" r:id="rId24"/>
    <p:sldId id="268" r:id="rId25"/>
    <p:sldId id="269" r:id="rId26"/>
    <p:sldId id="289" r:id="rId27"/>
    <p:sldId id="290" r:id="rId28"/>
    <p:sldId id="291" r:id="rId29"/>
    <p:sldId id="298" r:id="rId30"/>
    <p:sldId id="299" r:id="rId31"/>
    <p:sldId id="295" r:id="rId32"/>
    <p:sldId id="29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A2093-2BBD-4A1D-8977-65611E8EEB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CCF9-FE3C-4113-B813-79AD2CFB5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C024F-E448-4F00-834F-E013F5ACFA28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4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334B-4718-4F27-B465-1FC3A7E260D0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4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0542-D347-49D2-89AB-ACF501A63839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A548-5D04-4E2D-8F1E-1F5F8C64118C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9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8E64-D028-471D-86BA-827CB70154DE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8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0037E-DE84-4018-A47F-D927039DA930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5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F86A-C250-49C1-99A8-6AD4F643A4B9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0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B327-5E43-49A5-86DA-7A09626F0D99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6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B7E-257D-4BAA-9D5A-5764D7394611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0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AAB5-584D-47E4-95D7-0EC569286A63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7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6F1AF-968F-4440-90AF-715030A8703D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1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D1E7-A0F1-49BC-931B-D31F530AFC9B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A5612-A093-4C82-99C7-105DA87E15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72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sticalhorizons.com/seminars/r-sas-user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4sasusers-oct2026" TargetMode="External"/><Relationship Id="rId2" Type="http://schemas.openxmlformats.org/officeDocument/2006/relationships/hyperlink" Target="https://drive.google.com/drive/folders/1Nnb9pA7g7iRLg9o2yidV2MWMWoDTOcHV?usp=sha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horton.people.amherst.edu/sasr2/" TargetMode="External"/><Relationship Id="rId5" Type="http://schemas.openxmlformats.org/officeDocument/2006/relationships/hyperlink" Target="https://nhorton.people.amherst.edu/sasr2/datasets.php" TargetMode="External"/><Relationship Id="rId4" Type="http://schemas.openxmlformats.org/officeDocument/2006/relationships/hyperlink" Target="https://r-for-sas-users-sh.slack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sitron.posit.co/migrate-rstudio-compare.html" TargetMode="External"/><Relationship Id="rId4" Type="http://schemas.openxmlformats.org/officeDocument/2006/relationships/hyperlink" Target="https://positron.posit.co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ADF8-C36F-C2B7-47FC-D2BDD919F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for SAS Users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581EB-66C3-EA1F-86D9-CEE1B44F1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Melinda Higgins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https://statisticalhorizons.com/seminars/r-sas-users/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5ADE9-1649-CD07-81EC-C3B5D5EA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8394F-15AD-F5AB-EBC3-1B1751B6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D7FD-DC18-023F-AFB9-B4E5A993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2-day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738-A54C-DE70-F8CB-5817675F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Day 1: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   1:00 – 3:00 pm</a:t>
            </a:r>
          </a:p>
          <a:p>
            <a:endParaRPr lang="en-US" dirty="0"/>
          </a:p>
          <a:p>
            <a:r>
              <a:rPr lang="en-US" dirty="0"/>
              <a:t>Day 2: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/>
              <a:t>   1:00 </a:t>
            </a:r>
            <a:r>
              <a:rPr lang="en-US" dirty="0"/>
              <a:t>- 3:00 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i="1" dirty="0"/>
              <a:t>All Times EDT (Eastern Daylight Time = UTC-4)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1AA81-944F-CC9D-1D0F-05AFD48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E8D56-6C13-FEED-7B04-2A3AD03F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4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54B0-908F-1AB9-3024-AB1DCE7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C81-3EFE-E04D-DF41-693AEFCC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GoogleDrive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https://drive.google.com/drive/folders/1Nnb9pA7g7iRLg9o2yidV2MWMWoDTOcHV?usp=sharing</a:t>
            </a:r>
            <a:r>
              <a:rPr lang="en-US" dirty="0"/>
              <a:t> </a:t>
            </a:r>
          </a:p>
          <a:p>
            <a:r>
              <a:rPr lang="en-US" dirty="0"/>
              <a:t>WEBSITE:</a:t>
            </a:r>
          </a:p>
          <a:p>
            <a:pPr lvl="1"/>
            <a:r>
              <a:rPr lang="en-US" dirty="0">
                <a:hlinkClick r:id="rId3"/>
              </a:rPr>
              <a:t>https://tinyurl.com/r4sasusers-oct2026</a:t>
            </a:r>
            <a:r>
              <a:rPr lang="en-US" dirty="0"/>
              <a:t> </a:t>
            </a:r>
          </a:p>
          <a:p>
            <a:r>
              <a:rPr lang="en-US" dirty="0"/>
              <a:t>SLACK:</a:t>
            </a:r>
          </a:p>
          <a:p>
            <a:pPr lvl="1"/>
            <a:r>
              <a:rPr lang="en-US" dirty="0">
                <a:hlinkClick r:id="rId4"/>
              </a:rPr>
              <a:t>https://r-for-sas-users-sh.slack.com</a:t>
            </a:r>
            <a:r>
              <a:rPr lang="en-US" dirty="0"/>
              <a:t> </a:t>
            </a:r>
          </a:p>
          <a:p>
            <a:r>
              <a:rPr lang="en-US" dirty="0"/>
              <a:t>H.E.L.P. Dataset and “SAS and R” Book</a:t>
            </a:r>
          </a:p>
          <a:p>
            <a:pPr lvl="1"/>
            <a:r>
              <a:rPr lang="en-US" dirty="0">
                <a:hlinkClick r:id="rId5"/>
              </a:rPr>
              <a:t>https://nhorton.people.amherst.edu/sasr2/datasets.php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6"/>
              </a:rPr>
              <a:t>https://nhorton.people.amherst.edu/sasr2/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AEFDD-31A5-A37D-E550-59CD9610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8A360-42A8-3F1B-CDD0-478EEBBA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FC8397-2E2E-9D96-59CF-54AF88D2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R and SAS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4C96D3-CA80-07AC-257D-5BFB21B5B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6DFB4B-164E-036E-6061-AE5A7A676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Bare Bones (89MB)</a:t>
            </a:r>
          </a:p>
          <a:p>
            <a:r>
              <a:rPr lang="en-US" dirty="0"/>
              <a:t>Takes up little memory</a:t>
            </a:r>
          </a:p>
          <a:p>
            <a:r>
              <a:rPr lang="en-US" dirty="0"/>
              <a:t>Powerful base packages included</a:t>
            </a:r>
          </a:p>
          <a:p>
            <a:r>
              <a:rPr lang="en-US" dirty="0"/>
              <a:t>FREE/Open Source</a:t>
            </a:r>
          </a:p>
          <a:p>
            <a:r>
              <a:rPr lang="en-US" dirty="0"/>
              <a:t>Add “packages” as you go – only “load” what you need at that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6083BC0-06F6-B88B-8306-A43772E55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D138D3-F684-5D13-0B40-4315D0E2B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Have to buy base $$ &amp; Large (20GB+)</a:t>
            </a:r>
          </a:p>
          <a:p>
            <a:r>
              <a:rPr lang="en-US" dirty="0"/>
              <a:t>Almost always have to buy add-ons, gets expensive $$</a:t>
            </a:r>
          </a:p>
          <a:p>
            <a:r>
              <a:rPr lang="en-US" dirty="0"/>
              <a:t>Must know what you want ahead of time</a:t>
            </a:r>
          </a:p>
          <a:p>
            <a:r>
              <a:rPr lang="en-US" dirty="0"/>
              <a:t>Sometimes end up with more than you need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885F31-44C5-91B9-B8A6-DE967879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D66E64D-C0AC-69F8-EF36-97A9C83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8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170F-8849-6F48-EFDD-4275D827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8160"/>
          </a:xfrm>
        </p:spPr>
        <p:txBody>
          <a:bodyPr/>
          <a:lstStyle/>
          <a:p>
            <a:r>
              <a:rPr lang="en-US" dirty="0"/>
              <a:t>My Current SAS License Includes: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92B388-0667-9A3D-0F39-EC2AB748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53EA32D-D11A-D376-E755-BB8C4501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74203-DA8A-3CFE-1CAE-C77A99B1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2" y="822437"/>
            <a:ext cx="4861981" cy="603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AADF0-C493-A330-291E-24EFAAB6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39" y="868161"/>
            <a:ext cx="3856054" cy="5989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88403-0D1F-7051-D1FD-C6D1D83B3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944" y="1363801"/>
            <a:ext cx="3414056" cy="4130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28CB8-CCBC-F119-429E-F1AA5CB1F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2" y="867565"/>
            <a:ext cx="5540220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C148-9AD7-CEA5-7D01-9C498B02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6916"/>
          </a:xfrm>
        </p:spPr>
        <p:txBody>
          <a:bodyPr/>
          <a:lstStyle/>
          <a:p>
            <a:r>
              <a:rPr lang="en-US" dirty="0"/>
              <a:t>SAS Software Components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926BF-0521-7363-7B18-F2F3C9B9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73F1-669B-8E96-E826-0398B61C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81D88-CB15-8A99-C323-C90B8FA3C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6917"/>
            <a:ext cx="5616427" cy="2575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4B180-3655-3442-3345-D24AC84BD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17" y="593817"/>
            <a:ext cx="3711262" cy="6264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DBCF3-992C-194B-1057-C6FE1DEAB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495" y="1533833"/>
            <a:ext cx="4503810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9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60CA-0AD8-3CB0-339C-F98E3D2F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Current R - Base Installation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F3E5D1-BD45-7DFE-44D9-EC6F7E39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950E3E-A4D3-CB99-C7E3-96CA994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A764E-8F22-DBCF-7097-D3B61E19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751B1F5-CEF7-7C9C-FC5B-98942E374477}"/>
              </a:ext>
            </a:extLst>
          </p:cNvPr>
          <p:cNvGrpSpPr/>
          <p:nvPr/>
        </p:nvGrpSpPr>
        <p:grpSpPr>
          <a:xfrm>
            <a:off x="1465006" y="4531196"/>
            <a:ext cx="9448800" cy="2326804"/>
            <a:chOff x="1465006" y="4531196"/>
            <a:chExt cx="9448800" cy="232680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80C205-6CC4-C8AB-7B50-6FB69158D4AA}"/>
                </a:ext>
              </a:extLst>
            </p:cNvPr>
            <p:cNvSpPr txBox="1"/>
            <p:nvPr/>
          </p:nvSpPr>
          <p:spPr>
            <a:xfrm>
              <a:off x="8662220" y="4531196"/>
              <a:ext cx="2251586" cy="95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800" dirty="0"/>
                <a:t>Only 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10F884B-966B-BD38-F9A5-7910B208F8FD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E29530-8129-E491-6703-682BE186B66A}"/>
                </a:ext>
              </a:extLst>
            </p:cNvPr>
            <p:cNvCxnSpPr>
              <a:endCxn id="7" idx="0"/>
            </p:cNvCxnSpPr>
            <p:nvPr/>
          </p:nvCxnSpPr>
          <p:spPr>
            <a:xfrm flipH="1">
              <a:off x="5294671" y="4788310"/>
              <a:ext cx="3298723" cy="115037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566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4C53-E2A2-8F60-ACB1-6B96F9B1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SAS Base; SAS Studio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9D5DC-CE6F-286B-50BC-377E1AA8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9AA4-0EAD-7CB2-ACCC-05F90B4B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6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688992-D104-3432-F761-36D06ED9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B1B190-6350-7E9C-0A38-9C6F897D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1AB881-403C-B95A-5AA8-49C729D8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CEC5C-BB8A-1356-9DED-42F7CC09DFB3}"/>
              </a:ext>
            </a:extLst>
          </p:cNvPr>
          <p:cNvSpPr txBox="1"/>
          <p:nvPr/>
        </p:nvSpPr>
        <p:spPr>
          <a:xfrm>
            <a:off x="8288594" y="1690688"/>
            <a:ext cx="2754921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Basic SAS </a:t>
            </a:r>
          </a:p>
          <a:p>
            <a:r>
              <a:rPr lang="en-US" sz="3600" dirty="0"/>
              <a:t>IDE Interface</a:t>
            </a:r>
          </a:p>
        </p:txBody>
      </p:sp>
    </p:spTree>
    <p:extLst>
      <p:ext uri="{BB962C8B-B14F-4D97-AF65-F5344CB8AC3E}">
        <p14:creationId xmlns:p14="http://schemas.microsoft.com/office/powerpoint/2010/main" val="345693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6D055C-A56E-A398-23F0-19D1E2E6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D63B6-0788-ABA8-AF2F-417A6A84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A53F8-6440-8F9D-AD67-C6E63AA0B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"/>
            <a:ext cx="12192000" cy="64579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F70F5E-D8A5-8FAC-808F-C999C1A10C13}"/>
              </a:ext>
            </a:extLst>
          </p:cNvPr>
          <p:cNvSpPr/>
          <p:nvPr/>
        </p:nvSpPr>
        <p:spPr>
          <a:xfrm>
            <a:off x="2497394" y="5171768"/>
            <a:ext cx="468998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SAS Program Script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9A7C7F-98FD-5D29-EC4E-CDD1367591C6}"/>
              </a:ext>
            </a:extLst>
          </p:cNvPr>
          <p:cNvSpPr/>
          <p:nvPr/>
        </p:nvSpPr>
        <p:spPr>
          <a:xfrm>
            <a:off x="9753600" y="3810001"/>
            <a:ext cx="213851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54C05A-D33F-9538-CC2A-1C3F39F8DE3B}"/>
              </a:ext>
            </a:extLst>
          </p:cNvPr>
          <p:cNvSpPr/>
          <p:nvPr/>
        </p:nvSpPr>
        <p:spPr>
          <a:xfrm>
            <a:off x="3102080" y="2336852"/>
            <a:ext cx="2885765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Output LOG</a:t>
            </a:r>
          </a:p>
        </p:txBody>
      </p:sp>
    </p:spTree>
    <p:extLst>
      <p:ext uri="{BB962C8B-B14F-4D97-AF65-F5344CB8AC3E}">
        <p14:creationId xmlns:p14="http://schemas.microsoft.com/office/powerpoint/2010/main" val="412469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2436CB-98A6-7D6C-EC18-84D090001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27941"/>
            <a:ext cx="12192000" cy="61468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0A271B-E215-2517-C956-7EF5D9A8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005D7F-7497-7D14-DEE9-46016FE7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4E7C2-5848-20FA-A48E-EF2DC8859964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211E3-8EE3-F292-552D-3C917AE5F889}"/>
              </a:ext>
            </a:extLst>
          </p:cNvPr>
          <p:cNvSpPr/>
          <p:nvPr/>
        </p:nvSpPr>
        <p:spPr>
          <a:xfrm>
            <a:off x="8359877" y="2219288"/>
            <a:ext cx="3244645" cy="1391247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SAS Program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314215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28A50C-60A2-91B0-8485-3AAC9FB2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75"/>
            <a:ext cx="12192000" cy="61404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2CF9B2-4416-639F-9C76-DD433362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8B63C-1B25-3C79-C211-65889F76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C444-43CA-631D-1F95-7F792244F661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653208-FC5E-542E-DE92-26A3312A9B88}"/>
              </a:ext>
            </a:extLst>
          </p:cNvPr>
          <p:cNvSpPr/>
          <p:nvPr/>
        </p:nvSpPr>
        <p:spPr>
          <a:xfrm>
            <a:off x="8539317" y="1668259"/>
            <a:ext cx="2885765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Output LOG</a:t>
            </a:r>
          </a:p>
        </p:txBody>
      </p:sp>
    </p:spTree>
    <p:extLst>
      <p:ext uri="{BB962C8B-B14F-4D97-AF65-F5344CB8AC3E}">
        <p14:creationId xmlns:p14="http://schemas.microsoft.com/office/powerpoint/2010/main" val="23742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876F64-2662-6260-F0B4-1DDF6E4A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12192000" cy="61468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B43372-AC5D-A31D-4157-2C3EB568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2F29A-27B2-5A38-D625-1996D89F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95938-9DD7-1169-BB22-CA7671D4B72D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A4BA94-F2C6-C2E5-9F05-E832C6E1BE52}"/>
              </a:ext>
            </a:extLst>
          </p:cNvPr>
          <p:cNvSpPr/>
          <p:nvPr/>
        </p:nvSpPr>
        <p:spPr>
          <a:xfrm>
            <a:off x="7084141" y="1204453"/>
            <a:ext cx="213851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0553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49A3-F0D4-0530-D748-07785CDC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R Basic; </a:t>
            </a:r>
            <a:r>
              <a:rPr lang="en-US" dirty="0" err="1"/>
              <a:t>Rstudio</a:t>
            </a:r>
            <a:r>
              <a:rPr lang="en-US" dirty="0"/>
              <a:t> IDE; Positron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287176-EEF7-BB9A-6C85-7CC4EB16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(from CRAN) – FREE – comes with a basic programming interface</a:t>
            </a:r>
          </a:p>
          <a:p>
            <a:pPr lvl="1"/>
            <a:r>
              <a:rPr lang="en-US" dirty="0">
                <a:hlinkClick r:id="rId2"/>
              </a:rPr>
              <a:t>https://cran.r-project.org/</a:t>
            </a:r>
            <a:r>
              <a:rPr lang="en-US" dirty="0"/>
              <a:t> </a:t>
            </a:r>
          </a:p>
          <a:p>
            <a:r>
              <a:rPr lang="en-US" dirty="0" err="1"/>
              <a:t>Rstudio</a:t>
            </a:r>
            <a:r>
              <a:rPr lang="en-US" dirty="0"/>
              <a:t> is an IDE = Integrated Development Environment</a:t>
            </a:r>
          </a:p>
          <a:p>
            <a:pPr lvl="1"/>
            <a:r>
              <a:rPr lang="en-US" dirty="0">
                <a:hlinkClick r:id="rId3"/>
              </a:rPr>
              <a:t>https://posit.co/download/rstudio-desktop</a:t>
            </a:r>
            <a:r>
              <a:rPr lang="en-US" dirty="0"/>
              <a:t> </a:t>
            </a:r>
          </a:p>
          <a:p>
            <a:r>
              <a:rPr lang="en-US" dirty="0"/>
              <a:t>Positron is the next evolution of programming interfaces</a:t>
            </a:r>
          </a:p>
          <a:p>
            <a:pPr lvl="1"/>
            <a:r>
              <a:rPr lang="en-US" dirty="0">
                <a:hlinkClick r:id="rId4"/>
              </a:rPr>
              <a:t>https://positron.posit.co/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Learn more, </a:t>
            </a:r>
            <a:r>
              <a:rPr lang="en-US" dirty="0">
                <a:hlinkClick r:id="rId5"/>
              </a:rPr>
              <a:t>https://positron.posit.co/migrate-rstudio-compare.html</a:t>
            </a:r>
            <a:r>
              <a:rPr lang="en-U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6CA51-5F29-498C-2F6E-23EA36BC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FB482-C06D-B999-2183-3E824C61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9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55CA8-443E-6898-D46F-50DA487B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798D5-038C-D0EA-D574-3106F94C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3" y="0"/>
            <a:ext cx="10800594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04737-8C6C-EEF2-02C7-64CB3A6C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DD38-7319-8910-7CA8-F3951834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333A9-2C41-CD50-4321-3DE77057BA5E}"/>
              </a:ext>
            </a:extLst>
          </p:cNvPr>
          <p:cNvSpPr txBox="1"/>
          <p:nvPr/>
        </p:nvSpPr>
        <p:spPr>
          <a:xfrm>
            <a:off x="7557064" y="1474838"/>
            <a:ext cx="353718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301110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31704A-9382-764E-442C-071DE66F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78920E-502E-99F0-84D6-7004B1BE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E9D25-F792-0A4F-0913-CE65FC44F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46"/>
            <a:ext cx="12192000" cy="6501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DEB6EB-FAE1-C776-BFCF-8F010E31CB7C}"/>
              </a:ext>
            </a:extLst>
          </p:cNvPr>
          <p:cNvSpPr txBox="1"/>
          <p:nvPr/>
        </p:nvSpPr>
        <p:spPr>
          <a:xfrm>
            <a:off x="0" y="6211669"/>
            <a:ext cx="975433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 – similar to SAS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2773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3AABE-4062-C6D7-518E-65B5D58F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927BD-F656-23FB-1C7B-CA99761E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8DAEE-984C-696E-D1A7-D9E13A4A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2AC8C-0095-32DB-3F1E-F403A698F9D5}"/>
              </a:ext>
            </a:extLst>
          </p:cNvPr>
          <p:cNvSpPr txBox="1"/>
          <p:nvPr/>
        </p:nvSpPr>
        <p:spPr>
          <a:xfrm>
            <a:off x="4842836" y="0"/>
            <a:ext cx="250632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 err="1"/>
              <a:t>Rstudio</a:t>
            </a:r>
            <a:r>
              <a:rPr lang="en-US" sz="3600" dirty="0"/>
              <a:t> IDE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26B7F5-F355-3632-12F9-33ABAF18EBF0}"/>
              </a:ext>
            </a:extLst>
          </p:cNvPr>
          <p:cNvSpPr/>
          <p:nvPr/>
        </p:nvSpPr>
        <p:spPr>
          <a:xfrm>
            <a:off x="0" y="3429000"/>
            <a:ext cx="7108723" cy="342900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Console,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Terminal,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Background Jobs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AF9FFC-AB35-E1E5-212A-CFD3436EC2DF}"/>
              </a:ext>
            </a:extLst>
          </p:cNvPr>
          <p:cNvSpPr/>
          <p:nvPr/>
        </p:nvSpPr>
        <p:spPr>
          <a:xfrm>
            <a:off x="0" y="646331"/>
            <a:ext cx="7108723" cy="264614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Source,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Scripts, RMD, 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C97D3-C4B8-D911-A553-9BF7DF4466E6}"/>
              </a:ext>
            </a:extLst>
          </p:cNvPr>
          <p:cNvSpPr/>
          <p:nvPr/>
        </p:nvSpPr>
        <p:spPr>
          <a:xfrm>
            <a:off x="6789175" y="684527"/>
            <a:ext cx="5402826" cy="264614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Environment,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History, …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657C16-A18E-3C9A-AEAC-841F94F129D7}"/>
              </a:ext>
            </a:extLst>
          </p:cNvPr>
          <p:cNvSpPr/>
          <p:nvPr/>
        </p:nvSpPr>
        <p:spPr>
          <a:xfrm>
            <a:off x="6789175" y="3467196"/>
            <a:ext cx="5402826" cy="338391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Files, Plots, Packages,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Help, Viewer,…</a:t>
            </a:r>
          </a:p>
        </p:txBody>
      </p:sp>
    </p:spTree>
    <p:extLst>
      <p:ext uri="{BB962C8B-B14F-4D97-AF65-F5344CB8AC3E}">
        <p14:creationId xmlns:p14="http://schemas.microsoft.com/office/powerpoint/2010/main" val="237287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723563-B67A-6091-2837-0A5A95AAD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12192000" cy="64643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1C981-F2C0-FA55-8667-25181E9F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AF576-A05F-6D61-5FA1-DBF7E9F7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8721B-D57F-ED41-DFD9-C15D15B982BA}"/>
              </a:ext>
            </a:extLst>
          </p:cNvPr>
          <p:cNvSpPr txBox="1"/>
          <p:nvPr/>
        </p:nvSpPr>
        <p:spPr>
          <a:xfrm>
            <a:off x="4786795" y="0"/>
            <a:ext cx="261840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Positron IDE</a:t>
            </a:r>
          </a:p>
        </p:txBody>
      </p:sp>
    </p:spTree>
    <p:extLst>
      <p:ext uri="{BB962C8B-B14F-4D97-AF65-F5344CB8AC3E}">
        <p14:creationId xmlns:p14="http://schemas.microsoft.com/office/powerpoint/2010/main" val="49868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D3A7-4A11-5BBB-E0F1-C4442368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 Session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DE9FC-BA8F-13E6-1663-FB951337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22A35-A3C8-1865-7981-77701576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7BFF5-E839-8027-7746-DAB7D7E9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17" y="1580990"/>
            <a:ext cx="8839966" cy="369602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D3B3732-4626-A062-2266-24B9E89C75A7}"/>
              </a:ext>
            </a:extLst>
          </p:cNvPr>
          <p:cNvGrpSpPr/>
          <p:nvPr/>
        </p:nvGrpSpPr>
        <p:grpSpPr>
          <a:xfrm>
            <a:off x="4406593" y="3059538"/>
            <a:ext cx="7577046" cy="988040"/>
            <a:chOff x="4406593" y="3059538"/>
            <a:chExt cx="7577046" cy="988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FC9386-0230-F6EA-FF56-AE682C950CCC}"/>
                </a:ext>
              </a:extLst>
            </p:cNvPr>
            <p:cNvSpPr txBox="1"/>
            <p:nvPr/>
          </p:nvSpPr>
          <p:spPr>
            <a:xfrm>
              <a:off x="8657495" y="3287089"/>
              <a:ext cx="3326144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Products Included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0A04009-2D07-A5EA-6A72-1BBF31867872}"/>
                </a:ext>
              </a:extLst>
            </p:cNvPr>
            <p:cNvSpPr/>
            <p:nvPr/>
          </p:nvSpPr>
          <p:spPr>
            <a:xfrm>
              <a:off x="4406593" y="3059538"/>
              <a:ext cx="2456324" cy="988040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DA9034-F03C-44EE-7331-9BE2A7C9D307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flipH="1">
              <a:off x="6862917" y="3548699"/>
              <a:ext cx="1794578" cy="485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E236555-56DB-F5ED-F138-972A271CAEB9}"/>
              </a:ext>
            </a:extLst>
          </p:cNvPr>
          <p:cNvGrpSpPr/>
          <p:nvPr/>
        </p:nvGrpSpPr>
        <p:grpSpPr>
          <a:xfrm>
            <a:off x="4436997" y="227650"/>
            <a:ext cx="7546642" cy="2678903"/>
            <a:chOff x="4436997" y="227650"/>
            <a:chExt cx="7546642" cy="2678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F9273E-F4D9-9A62-AFC1-B7C672E84D31}"/>
                </a:ext>
              </a:extLst>
            </p:cNvPr>
            <p:cNvSpPr txBox="1"/>
            <p:nvPr/>
          </p:nvSpPr>
          <p:spPr>
            <a:xfrm>
              <a:off x="8493679" y="227650"/>
              <a:ext cx="3489960" cy="95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SAS Version and</a:t>
              </a:r>
            </a:p>
            <a:p>
              <a:pPr algn="ctr"/>
              <a:r>
                <a:rPr lang="en-US" sz="2800" dirty="0"/>
                <a:t>Local System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2EB17-AA89-0D4F-45D5-5E5187E2F14C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flipH="1">
              <a:off x="7476490" y="1181757"/>
              <a:ext cx="2762169" cy="103938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00AA46C-F303-237D-1F0D-5A089D1C6A68}"/>
                </a:ext>
              </a:extLst>
            </p:cNvPr>
            <p:cNvSpPr/>
            <p:nvPr/>
          </p:nvSpPr>
          <p:spPr>
            <a:xfrm>
              <a:off x="4436997" y="2221138"/>
              <a:ext cx="6078986" cy="685415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F4489D-93C9-C103-4EEB-86A342840D3F}"/>
              </a:ext>
            </a:extLst>
          </p:cNvPr>
          <p:cNvGrpSpPr/>
          <p:nvPr/>
        </p:nvGrpSpPr>
        <p:grpSpPr>
          <a:xfrm>
            <a:off x="4433120" y="4190846"/>
            <a:ext cx="7550519" cy="523220"/>
            <a:chOff x="4433120" y="4190846"/>
            <a:chExt cx="7550519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CB4ADF-6460-B975-803C-2B11B3ED0B7D}"/>
                </a:ext>
              </a:extLst>
            </p:cNvPr>
            <p:cNvSpPr txBox="1"/>
            <p:nvPr/>
          </p:nvSpPr>
          <p:spPr>
            <a:xfrm>
              <a:off x="8684916" y="419084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165EF4-C248-6785-C4F3-0EE4E364CABB}"/>
                </a:ext>
              </a:extLst>
            </p:cNvPr>
            <p:cNvCxnSpPr>
              <a:cxnSpLocks/>
              <a:stCxn id="19" idx="1"/>
              <a:endCxn id="21" idx="3"/>
            </p:cNvCxnSpPr>
            <p:nvPr/>
          </p:nvCxnSpPr>
          <p:spPr>
            <a:xfrm flipH="1">
              <a:off x="7580671" y="4452456"/>
              <a:ext cx="1104245" cy="946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59E0439-E943-6A37-2536-69F7D44D99ED}"/>
                </a:ext>
              </a:extLst>
            </p:cNvPr>
            <p:cNvSpPr/>
            <p:nvPr/>
          </p:nvSpPr>
          <p:spPr>
            <a:xfrm>
              <a:off x="4433120" y="4276634"/>
              <a:ext cx="3147551" cy="370577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397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5435-AFAB-8CEC-5414-70A08489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Details on Start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3E9F5-CD84-FD89-9AD3-6B06AB4B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E188-4C79-94A7-C063-700AA7AF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3DEBD-8378-1CA9-EA62-D9E12C9E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1377764"/>
            <a:ext cx="8397968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4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2F66-B653-C7F2-D82C-8A74D5FE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</a:t>
            </a:r>
            <a:r>
              <a:rPr lang="en-US" dirty="0" err="1"/>
              <a:t>sessionInfo</a:t>
            </a:r>
            <a:r>
              <a:rPr lang="en-US" dirty="0"/>
              <a:t>()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692D3-5721-2CEB-F324-7232B641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B97D-CE32-3265-041A-57B3A78A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6E60D-5825-0340-4C67-9D99612F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01DEB91-4F11-21EE-480F-CD8C6AF74E83}"/>
              </a:ext>
            </a:extLst>
          </p:cNvPr>
          <p:cNvGrpSpPr/>
          <p:nvPr/>
        </p:nvGrpSpPr>
        <p:grpSpPr>
          <a:xfrm>
            <a:off x="1465006" y="5124762"/>
            <a:ext cx="10500851" cy="1733238"/>
            <a:chOff x="1465006" y="5124762"/>
            <a:chExt cx="10500851" cy="17332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847FA6-08E9-37EF-AD2E-C6E0620FB3D3}"/>
                </a:ext>
              </a:extLst>
            </p:cNvPr>
            <p:cNvSpPr txBox="1"/>
            <p:nvPr/>
          </p:nvSpPr>
          <p:spPr>
            <a:xfrm>
              <a:off x="9124335" y="5124762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3B18C94-187E-AE04-750C-64534A6803F1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71B43C-9A5B-064C-06D6-332A1A82D73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flipH="1">
              <a:off x="5294671" y="5373575"/>
              <a:ext cx="3952084" cy="56510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69F021-B327-88A7-C279-4B5793A3A817}"/>
              </a:ext>
            </a:extLst>
          </p:cNvPr>
          <p:cNvGrpSpPr/>
          <p:nvPr/>
        </p:nvGrpSpPr>
        <p:grpSpPr>
          <a:xfrm>
            <a:off x="1465006" y="639273"/>
            <a:ext cx="10372541" cy="1747555"/>
            <a:chOff x="1465006" y="639273"/>
            <a:chExt cx="10372541" cy="17475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79292B-381D-8641-18D6-0154F5BE57C1}"/>
                </a:ext>
              </a:extLst>
            </p:cNvPr>
            <p:cNvSpPr txBox="1"/>
            <p:nvPr/>
          </p:nvSpPr>
          <p:spPr>
            <a:xfrm>
              <a:off x="8996025" y="639273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 Version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BD3C95-5C4D-0EF2-7C3B-1D7F2C589246}"/>
                </a:ext>
              </a:extLst>
            </p:cNvPr>
            <p:cNvCxnSpPr>
              <a:cxnSpLocks/>
              <a:stCxn id="9" idx="1"/>
              <a:endCxn id="18" idx="0"/>
            </p:cNvCxnSpPr>
            <p:nvPr/>
          </p:nvCxnSpPr>
          <p:spPr>
            <a:xfrm flipH="1">
              <a:off x="4075715" y="900883"/>
              <a:ext cx="4920310" cy="11715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2FDAB7-8F78-C19E-54C9-1B3A70094F3E}"/>
                </a:ext>
              </a:extLst>
            </p:cNvPr>
            <p:cNvSpPr/>
            <p:nvPr/>
          </p:nvSpPr>
          <p:spPr>
            <a:xfrm>
              <a:off x="1465006" y="2072389"/>
              <a:ext cx="5221417" cy="31443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D4057F-495B-736A-CB47-C6B1766E3C20}"/>
              </a:ext>
            </a:extLst>
          </p:cNvPr>
          <p:cNvGrpSpPr/>
          <p:nvPr/>
        </p:nvGrpSpPr>
        <p:grpSpPr>
          <a:xfrm>
            <a:off x="1465006" y="3718800"/>
            <a:ext cx="10500851" cy="2161699"/>
            <a:chOff x="1465006" y="3718800"/>
            <a:chExt cx="10500851" cy="21616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7CAC8B-086A-9B82-4CAC-B006707F1B7D}"/>
                </a:ext>
              </a:extLst>
            </p:cNvPr>
            <p:cNvSpPr txBox="1"/>
            <p:nvPr/>
          </p:nvSpPr>
          <p:spPr>
            <a:xfrm>
              <a:off x="8667134" y="391050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Local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68D44C-E926-F86D-52F4-C4832FFB5D99}"/>
                </a:ext>
              </a:extLst>
            </p:cNvPr>
            <p:cNvCxnSpPr>
              <a:cxnSpLocks/>
              <a:stCxn id="11" idx="1"/>
              <a:endCxn id="19" idx="3"/>
            </p:cNvCxnSpPr>
            <p:nvPr/>
          </p:nvCxnSpPr>
          <p:spPr>
            <a:xfrm flipH="1">
              <a:off x="6686423" y="4172116"/>
              <a:ext cx="1980711" cy="62753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CDCB41-1222-BBC7-29E8-8F0967E2F644}"/>
                </a:ext>
              </a:extLst>
            </p:cNvPr>
            <p:cNvSpPr/>
            <p:nvPr/>
          </p:nvSpPr>
          <p:spPr>
            <a:xfrm>
              <a:off x="1465006" y="3718800"/>
              <a:ext cx="5221417" cy="216169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38BC10-61B5-65B6-0D02-14052B548834}"/>
              </a:ext>
            </a:extLst>
          </p:cNvPr>
          <p:cNvGrpSpPr/>
          <p:nvPr/>
        </p:nvGrpSpPr>
        <p:grpSpPr>
          <a:xfrm>
            <a:off x="1465005" y="2183403"/>
            <a:ext cx="10500852" cy="776517"/>
            <a:chOff x="1465005" y="2183403"/>
            <a:chExt cx="10500852" cy="7765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59368D-8ECD-A30E-9153-8126A5DA76AE}"/>
                </a:ext>
              </a:extLst>
            </p:cNvPr>
            <p:cNvSpPr txBox="1"/>
            <p:nvPr/>
          </p:nvSpPr>
          <p:spPr>
            <a:xfrm>
              <a:off x="8667134" y="2183403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1425E1-6851-A4A8-1180-21131C23905F}"/>
                </a:ext>
              </a:extLst>
            </p:cNvPr>
            <p:cNvCxnSpPr>
              <a:cxnSpLocks/>
              <a:stCxn id="10" idx="1"/>
              <a:endCxn id="20" idx="3"/>
            </p:cNvCxnSpPr>
            <p:nvPr/>
          </p:nvCxnSpPr>
          <p:spPr>
            <a:xfrm flipH="1">
              <a:off x="6686422" y="2445013"/>
              <a:ext cx="1980712" cy="21037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485CFC0-B32A-9532-4B8A-5DC48F4C4B9C}"/>
                </a:ext>
              </a:extLst>
            </p:cNvPr>
            <p:cNvSpPr/>
            <p:nvPr/>
          </p:nvSpPr>
          <p:spPr>
            <a:xfrm>
              <a:off x="1465005" y="2350864"/>
              <a:ext cx="5221417" cy="60905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04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1">
            <a:extLst>
              <a:ext uri="{FF2B5EF4-FFF2-40B4-BE49-F238E27FC236}">
                <a16:creationId xmlns:a16="http://schemas.microsoft.com/office/drawing/2014/main" id="{751C32BD-D80F-81C6-3669-E742485FBE5B}"/>
              </a:ext>
            </a:extLst>
          </p:cNvPr>
          <p:cNvSpPr/>
          <p:nvPr/>
        </p:nvSpPr>
        <p:spPr>
          <a:xfrm>
            <a:off x="1700469" y="117719"/>
            <a:ext cx="4155176" cy="66225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b="1" dirty="0"/>
              <a:t>SAS</a:t>
            </a: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D208B368-288F-1FFC-EEB7-985131BB9F84}"/>
              </a:ext>
            </a:extLst>
          </p:cNvPr>
          <p:cNvSpPr/>
          <p:nvPr/>
        </p:nvSpPr>
        <p:spPr>
          <a:xfrm>
            <a:off x="6336356" y="117721"/>
            <a:ext cx="4155176" cy="66225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b="1" dirty="0"/>
              <a:t>R</a:t>
            </a: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BA76873-0903-EA97-DDE1-02778D6BA903}"/>
              </a:ext>
            </a:extLst>
          </p:cNvPr>
          <p:cNvSpPr/>
          <p:nvPr/>
        </p:nvSpPr>
        <p:spPr>
          <a:xfrm>
            <a:off x="2088589" y="1879374"/>
            <a:ext cx="3348494" cy="187159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latin typeface="+mj-lt"/>
              </a:rPr>
              <a:t>Components</a:t>
            </a:r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063A4975-3583-8A69-01A2-DC66BA990F6A}"/>
              </a:ext>
            </a:extLst>
          </p:cNvPr>
          <p:cNvSpPr/>
          <p:nvPr/>
        </p:nvSpPr>
        <p:spPr>
          <a:xfrm>
            <a:off x="2088589" y="4406762"/>
            <a:ext cx="3348494" cy="187159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latin typeface="+mj-lt"/>
              </a:rPr>
              <a:t>WORK Library</a:t>
            </a:r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31268013-707C-3E13-20CA-E5212A98ACAA}"/>
              </a:ext>
            </a:extLst>
          </p:cNvPr>
          <p:cNvSpPr/>
          <p:nvPr/>
        </p:nvSpPr>
        <p:spPr>
          <a:xfrm>
            <a:off x="6754918" y="1879374"/>
            <a:ext cx="3348494" cy="187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tx1"/>
                </a:solidFill>
                <a:latin typeface="+mj-lt"/>
              </a:rPr>
              <a:t>Packages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9EFC03F0-B34A-DCEB-B07B-E6B432B0780B}"/>
              </a:ext>
            </a:extLst>
          </p:cNvPr>
          <p:cNvSpPr/>
          <p:nvPr/>
        </p:nvSpPr>
        <p:spPr>
          <a:xfrm>
            <a:off x="6754918" y="4406762"/>
            <a:ext cx="3348494" cy="187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tx1"/>
                </a:solidFill>
                <a:latin typeface="+mj-lt"/>
              </a:rPr>
              <a:t>Global Environment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DB521B-4304-32A3-3D96-8109D1C28AAC}"/>
              </a:ext>
            </a:extLst>
          </p:cNvPr>
          <p:cNvCxnSpPr>
            <a:stCxn id="30" idx="3"/>
            <a:endCxn id="32" idx="1"/>
          </p:cNvCxnSpPr>
          <p:nvPr/>
        </p:nvCxnSpPr>
        <p:spPr>
          <a:xfrm>
            <a:off x="5437083" y="2815171"/>
            <a:ext cx="1317835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5AE148-1CDA-684C-C8F9-F45D5F9824FD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5437083" y="5342559"/>
            <a:ext cx="1317835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5">
            <a:extLst>
              <a:ext uri="{FF2B5EF4-FFF2-40B4-BE49-F238E27FC236}">
                <a16:creationId xmlns:a16="http://schemas.microsoft.com/office/drawing/2014/main" id="{5047154F-CFAB-54B3-5682-AD8D956BA985}"/>
              </a:ext>
            </a:extLst>
          </p:cNvPr>
          <p:cNvSpPr txBox="1"/>
          <p:nvPr/>
        </p:nvSpPr>
        <p:spPr>
          <a:xfrm>
            <a:off x="3447299" y="3653626"/>
            <a:ext cx="631075" cy="1211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+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E8D86665-EEB4-08F8-2056-D56EEAD40B79}"/>
              </a:ext>
            </a:extLst>
          </p:cNvPr>
          <p:cNvSpPr txBox="1"/>
          <p:nvPr/>
        </p:nvSpPr>
        <p:spPr>
          <a:xfrm>
            <a:off x="8113628" y="3653626"/>
            <a:ext cx="631075" cy="1211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75412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A852D0-0728-AB80-3971-CD5443F4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BBAD87-E7A6-524F-62F7-2BE2FC80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23</a:t>
            </a:fld>
            <a:endParaRPr lang="en-US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1EE392F3-8E7D-B0AC-F3F6-A2EFD714D836}"/>
              </a:ext>
            </a:extLst>
          </p:cNvPr>
          <p:cNvSpPr/>
          <p:nvPr/>
        </p:nvSpPr>
        <p:spPr>
          <a:xfrm>
            <a:off x="77463" y="2193439"/>
            <a:ext cx="5722917" cy="2743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7200" b="1" dirty="0"/>
              <a:t>SAS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PROC SETINIT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PROC PRODUCT_STATUS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6A765A1A-8F6F-CF99-9F39-E13FA527B9C8}"/>
              </a:ext>
            </a:extLst>
          </p:cNvPr>
          <p:cNvSpPr/>
          <p:nvPr/>
        </p:nvSpPr>
        <p:spPr>
          <a:xfrm>
            <a:off x="6391621" y="2193439"/>
            <a:ext cx="5722917" cy="2743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7200" b="1" dirty="0"/>
              <a:t>R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sessionInfo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4C150C-CD14-51D9-9AD1-2C37FF62B81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800380" y="3565039"/>
            <a:ext cx="591241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336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397A-E8E3-DF2E-D384-84251C6F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RStudio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737C7-520F-206F-10D7-610C0CAEC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75D26-6B44-3C1B-5E03-AF6C593B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D2722-7AD3-3611-9A62-3439B2E6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41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673D-511F-8B86-7AA3-9030E301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30B4-E036-72EB-DFF5-E056843A0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session details</a:t>
            </a:r>
          </a:p>
          <a:p>
            <a:r>
              <a:rPr lang="en-US" dirty="0"/>
              <a:t>Create new project “R4SASUsers”: File/New Project</a:t>
            </a:r>
          </a:p>
          <a:p>
            <a:r>
              <a:rPr lang="en-US" dirty="0"/>
              <a:t>Put all files for R For SAS Users into this folder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B2DAB-D628-603A-12B3-13C206EF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A1A13-F68D-2C3F-3679-15450015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5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4E4392-4703-9E49-B3DD-7211BAFA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7FF3A-0747-2699-4716-B03FCB0A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319AE-6195-96E7-1032-F11E1309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918" y="0"/>
            <a:ext cx="8786621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37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3F11EC-F9C8-0B33-F16A-B682FA6B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F96D6-CCDA-83CD-379F-F9E33F13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D2387-CFF1-0EAF-D4D3-258C62BC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96" y="0"/>
            <a:ext cx="313009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B4DB8E-30A4-74E3-EF92-F46AD716F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033652"/>
            <a:ext cx="6363251" cy="454953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69F037-9455-29AF-0515-023DFA8EA493}"/>
              </a:ext>
            </a:extLst>
          </p:cNvPr>
          <p:cNvCxnSpPr/>
          <p:nvPr/>
        </p:nvCxnSpPr>
        <p:spPr>
          <a:xfrm flipH="1">
            <a:off x="6607277" y="1769806"/>
            <a:ext cx="1799304" cy="5604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6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2566FE-9333-AF74-70F0-178E06CA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58816-72E7-4A45-5E72-7F403572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EC859-A97B-A1BC-4028-48FB1733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5" y="256119"/>
            <a:ext cx="6378493" cy="4557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6C918-5809-25AB-653C-CA8042EB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595" y="1626505"/>
            <a:ext cx="6348010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792108-D6B5-5680-E387-DA178F6E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38904-AA0D-D298-85E1-FCE30B58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A7CBF-1981-7020-0646-7249CC64D205}"/>
              </a:ext>
            </a:extLst>
          </p:cNvPr>
          <p:cNvSpPr txBox="1"/>
          <p:nvPr/>
        </p:nvSpPr>
        <p:spPr>
          <a:xfrm>
            <a:off x="2803207" y="0"/>
            <a:ext cx="658558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Get Files From </a:t>
            </a:r>
            <a:r>
              <a:rPr lang="en-US" sz="3600" dirty="0" err="1"/>
              <a:t>GoogleDrive</a:t>
            </a:r>
            <a:r>
              <a:rPr lang="en-US" sz="3600" dirty="0"/>
              <a:t> Folder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C631F8-D33B-6DC5-764E-153CA83D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7" y="784334"/>
            <a:ext cx="11812024" cy="60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5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17DA-53EE-F6F1-2904-6B305E4B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1EDA99-0B7D-F420-AF37-28A21074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87535-99BB-204D-A742-1689DB27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CF93B-1A36-0B0C-27E0-E708D06976D2}"/>
              </a:ext>
            </a:extLst>
          </p:cNvPr>
          <p:cNvSpPr txBox="1"/>
          <p:nvPr/>
        </p:nvSpPr>
        <p:spPr>
          <a:xfrm>
            <a:off x="2803207" y="0"/>
            <a:ext cx="658558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Get Files From </a:t>
            </a:r>
            <a:r>
              <a:rPr lang="en-US" sz="3600" dirty="0" err="1"/>
              <a:t>GoogleDrive</a:t>
            </a:r>
            <a:r>
              <a:rPr lang="en-US" sz="3600" dirty="0"/>
              <a:t> Folder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DBC624-924F-62CF-93A2-B71E072F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0" y="875782"/>
            <a:ext cx="11735817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42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98C71F-840B-7F4A-CB5B-4A3730A3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93" y="-29497"/>
            <a:ext cx="8662012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538F9B-9522-E3A1-E00C-10CC87C9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AE305-8EF4-C561-EFDF-9B45BAAD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5493F-8F74-2B16-2C57-22DD5ECD0EF4}"/>
              </a:ext>
            </a:extLst>
          </p:cNvPr>
          <p:cNvSpPr txBox="1"/>
          <p:nvPr/>
        </p:nvSpPr>
        <p:spPr>
          <a:xfrm>
            <a:off x="3595251" y="-29497"/>
            <a:ext cx="500149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Put Files Into This Folder</a:t>
            </a:r>
          </a:p>
        </p:txBody>
      </p:sp>
    </p:spTree>
    <p:extLst>
      <p:ext uri="{BB962C8B-B14F-4D97-AF65-F5344CB8AC3E}">
        <p14:creationId xmlns:p14="http://schemas.microsoft.com/office/powerpoint/2010/main" val="1338143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3285D-BA71-F07E-0666-A519E6F0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8"/>
            <a:ext cx="12192000" cy="660164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6D2401-85E4-35E9-6759-A007FADB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7B2118-CE82-B4FD-AD6E-0C2905DA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901D5E-900A-7230-CDB1-803FEE4E3EAF}"/>
              </a:ext>
            </a:extLst>
          </p:cNvPr>
          <p:cNvGrpSpPr/>
          <p:nvPr/>
        </p:nvGrpSpPr>
        <p:grpSpPr>
          <a:xfrm>
            <a:off x="2764425" y="1987842"/>
            <a:ext cx="4560607" cy="4366342"/>
            <a:chOff x="2764425" y="1987842"/>
            <a:chExt cx="4560607" cy="436634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A44025A-34CE-01EC-1349-99DED3106AEC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5720106" y="1987842"/>
              <a:ext cx="1604926" cy="404317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C327BE-4999-5BDB-ED24-2BD5BB044344}"/>
                </a:ext>
              </a:extLst>
            </p:cNvPr>
            <p:cNvSpPr txBox="1"/>
            <p:nvPr/>
          </p:nvSpPr>
          <p:spPr>
            <a:xfrm>
              <a:off x="2764425" y="5707853"/>
              <a:ext cx="2955681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3600" dirty="0"/>
                <a:t>Project Folder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070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camp_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camp_Theme1" id="{2C1E19B3-A858-4BC9-9141-7FD6874FFA88}" vid="{29FBF0A7-F6BE-45A1-83F7-34405DC267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datacamp_Theme1</Template>
  <TotalTime>912</TotalTime>
  <Words>654</Words>
  <Application>Microsoft Office PowerPoint</Application>
  <PresentationFormat>Widescreen</PresentationFormat>
  <Paragraphs>174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Courier New</vt:lpstr>
      <vt:lpstr>datacamp_Theme1</vt:lpstr>
      <vt:lpstr>R for SAS Users</vt:lpstr>
      <vt:lpstr>2-day Workshop</vt:lpstr>
      <vt:lpstr>Workshop Resources</vt:lpstr>
      <vt:lpstr>Compare R and SAS</vt:lpstr>
      <vt:lpstr>My Current SAS License Includes:</vt:lpstr>
      <vt:lpstr>SAS Software Components</vt:lpstr>
      <vt:lpstr>My Current R - Base Installation</vt:lpstr>
      <vt:lpstr>Interfaces – SAS Base; SAS 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Interfaces – R Basic; Rstudio IDE; Positron</vt:lpstr>
      <vt:lpstr>PowerPoint Presentation</vt:lpstr>
      <vt:lpstr>PowerPoint Presentation</vt:lpstr>
      <vt:lpstr>PowerPoint Presentation</vt:lpstr>
      <vt:lpstr>PowerPoint Presentation</vt:lpstr>
      <vt:lpstr>SAS Session</vt:lpstr>
      <vt:lpstr>R Session – Details on Start</vt:lpstr>
      <vt:lpstr>R Session – sessionInfo()</vt:lpstr>
      <vt:lpstr>PowerPoint Presentation</vt:lpstr>
      <vt:lpstr>PowerPoint Presentation</vt:lpstr>
      <vt:lpstr>Open RStudio</vt:lpstr>
      <vt:lpstr>Exercise 1: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53</cp:revision>
  <dcterms:created xsi:type="dcterms:W3CDTF">2026-05-10T11:48:59Z</dcterms:created>
  <dcterms:modified xsi:type="dcterms:W3CDTF">2026-10-03T21:37:32Z</dcterms:modified>
</cp:coreProperties>
</file>