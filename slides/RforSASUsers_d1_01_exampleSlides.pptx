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270" r:id="rId4"/>
    <p:sldId id="258" r:id="rId5"/>
    <p:sldId id="259" r:id="rId6"/>
    <p:sldId id="285" r:id="rId7"/>
    <p:sldId id="260" r:id="rId8"/>
    <p:sldId id="262" r:id="rId9"/>
    <p:sldId id="283" r:id="rId10"/>
    <p:sldId id="282" r:id="rId11"/>
    <p:sldId id="284" r:id="rId12"/>
    <p:sldId id="287" r:id="rId13"/>
    <p:sldId id="288" r:id="rId14"/>
    <p:sldId id="261" r:id="rId15"/>
    <p:sldId id="266" r:id="rId16"/>
    <p:sldId id="286" r:id="rId17"/>
    <p:sldId id="281" r:id="rId18"/>
    <p:sldId id="265" r:id="rId19"/>
    <p:sldId id="264" r:id="rId20"/>
    <p:sldId id="263" r:id="rId21"/>
    <p:sldId id="267" r:id="rId22"/>
    <p:sldId id="268" r:id="rId23"/>
    <p:sldId id="269" r:id="rId24"/>
    <p:sldId id="289" r:id="rId25"/>
    <p:sldId id="290" r:id="rId26"/>
    <p:sldId id="291" r:id="rId27"/>
    <p:sldId id="295" r:id="rId28"/>
    <p:sldId id="292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00"/>
    <a:srgbClr val="15608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6A2093-2BBD-4A1D-8977-65611E8EEBDD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7E9CCF9-FE3C-4113-B813-79AD2CFB53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76170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E75C3C-0BEA-E2B6-18FB-18E890F2AB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5912E8-5DE9-8A11-3BD1-6F0291E477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9838FC-5822-09D5-02A9-E5C1937C59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C024F-E448-4F00-834F-E013F5ACFA28}" type="datetime1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32A376-D8BB-B188-0D89-C2FDBCE79A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 For SAS Users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A41E0A-2212-251B-93FD-F7097A705B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5A5612-A093-4C82-99C7-105DA87E15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00663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3ABBBE-8E36-63A3-5EC6-9B2B9A838B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02A3F0-767E-2368-97C3-FC372F15B4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D1C13A-48E7-81EF-6944-E28F140103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46334B-4718-4F27-B465-1FC3A7E260D0}" type="datetime1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712E35-6025-BE7E-A131-15DDDF12E2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 For SAS Users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2867C1-622B-9684-55F9-330925CB46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5A5612-A093-4C82-99C7-105DA87E15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22744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BAD08B-CFBC-7A60-F269-1A24D43768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C7AD28-EA19-AFA7-2C95-3885210466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A891D7-9C43-EA37-83AF-1A6BA0DA95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B0542-D347-49D2-89AB-ACF501A63839}" type="datetime1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EFC2DE-91BD-37B7-4290-7D978D9384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 For SAS Users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0D7155-0B77-69FA-7A55-1C225AA920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5A5612-A093-4C82-99C7-105DA87E15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91510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301DA8-68D8-8A0A-6672-FA4244ABD2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55DDE5-33F4-96CB-185F-757B6E0DB44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B102CC-68B3-5EF6-1D81-7E8C4FFBF7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1AF9C6-3096-E765-7120-03C4669EFD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EA548-5D04-4E2D-8F1E-1F5F8C64118C}" type="datetime1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DF4BAE-1C26-5070-23A6-71458D0EF2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 For SAS Users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8FB81F-9DF8-1BDB-88E4-3FC21374AE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5A5612-A093-4C82-99C7-105DA87E15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70167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FE8123-F2F7-BB5D-346B-4AABBC9132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BECFFE-AECC-9629-2A4F-C271A91F74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4CBD25-C580-C654-B915-2361603A4C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C44AF41-E4D3-0BDD-5592-C66D274C54D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E2F506A-0CCB-BB66-A1B8-7F643F6327D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4692578-8309-64B8-AB3C-D438F3766C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208E64-D028-471D-86BA-827CB70154DE}" type="datetime1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0621174-3B08-80CB-7870-02C42259C5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 For SAS Users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A24C5A-3855-4BFE-34E2-1B4F8D5196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5A5612-A093-4C82-99C7-105DA87E15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0486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ED58EC-C4D3-D8A7-CE95-5D1CA5BDA9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F52EDF8-E637-D1C7-C08A-2D3494DC71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0037E-DE84-4018-A47F-D927039DA930}" type="datetime1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ABD5E35-357C-75F3-9C58-5626CC817E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 For SAS Users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9BD3A4-8763-00CF-E6F5-257B494435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5A5612-A093-4C82-99C7-105DA87E15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98946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9A3A085-678A-A4C3-E18F-7E070EA158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2F86A-C250-49C1-99A8-6AD4F643A4B9}" type="datetime1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9C6B6CC-B102-5220-D4C0-FC8A21AFC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 For SAS Users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C0F96C-4453-C64B-C959-DC6DE920FD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5A5612-A093-4C82-99C7-105DA87E15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72265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C9620D-D300-AB93-0FAA-DE55B9B023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780AE6-B817-C290-DC20-17B42977CB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EF9F82-62E4-4185-730C-1C9D546CA1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BE68EE-AFAA-B56D-D400-4E6DBCB90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5B327-5E43-49A5-86DA-7A09626F0D99}" type="datetime1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ADC82B-3609-2E49-08B9-8DB7BB19EE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 For SAS Users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F1C850-DC63-54C5-FEE8-712D48D16F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5A5612-A093-4C82-99C7-105DA87E15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53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468A4B-440D-38E9-B301-2106A74332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2B1B4DD-54E8-F816-2636-77236ED910D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AEF537-3F7F-5269-A46C-9BAD6E6F76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68E7DC-1186-A350-F453-208074C359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EFB7E-257D-4BAA-9D5A-5764D7394611}" type="datetime1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406D43-AB13-E271-0142-73263B8C64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 For SAS Users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78C88F-C11C-319A-80B0-86A4C7B594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5A5612-A093-4C82-99C7-105DA87E15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9306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24F6CF-B22E-6769-1214-3CA9F14A0A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AC4C93-1CEA-DF59-EE5B-8F62D59868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595518-B979-3758-1180-D1739C13D1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CAAB5-584D-47E4-95D7-0EC569286A63}" type="datetime1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FB64D9-5D55-2E36-C5D0-ED2A595414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 For SAS Users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B14B45-FAC8-97C8-48F5-A2313FEFF9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5A5612-A093-4C82-99C7-105DA87E15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55708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DD9BC45-1B0E-029E-501D-9EAC3C62094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F6C09D-B20D-7B12-1986-22BF6991AB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021AF4-EFE5-FEB2-452A-4DB1EFED23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B6F1AF-968F-4440-90AF-715030A8703D}" type="datetime1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7B7B99-F687-CBFC-21A1-AFFCBC69F3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 For SAS Users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97F0BA-F1FD-15F2-69D9-22BF333C89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5A5612-A093-4C82-99C7-105DA87E15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1437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C5355E5-EB9C-435E-09E7-97E06B7405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CE96CA-F537-F4F0-CD24-EAA7529486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692075-7EBD-FE99-902A-9620F7BA6B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B49D1E7-A0F1-49BC-931B-D31F530AFC9B}" type="datetime1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6514D5-3EEF-91FE-82A1-AC66FDCC5D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R For SAS Users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2B81AD-D13F-138A-220A-14704B5392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E5A5612-A093-4C82-99C7-105DA87E15B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04366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statisticalhorizons.com/seminars/r-sas-users/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tinyurl.com/r4sasusers" TargetMode="External"/><Relationship Id="rId2" Type="http://schemas.openxmlformats.org/officeDocument/2006/relationships/hyperlink" Target="https://r-for-sas-users-sh.slack.com/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nhorton.people.amherst.edu/sasr2/" TargetMode="External"/><Relationship Id="rId4" Type="http://schemas.openxmlformats.org/officeDocument/2006/relationships/hyperlink" Target="https://nhorton.people.amherst.edu/sasr2/datasets.php" TargetMode="Externa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posit.co/download/rstudio-desktop" TargetMode="External"/><Relationship Id="rId2" Type="http://schemas.openxmlformats.org/officeDocument/2006/relationships/hyperlink" Target="https://cran.r-project.org/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positron.posit.co/migrate-rstudio-compare.html" TargetMode="External"/><Relationship Id="rId4" Type="http://schemas.openxmlformats.org/officeDocument/2006/relationships/hyperlink" Target="https://positron.posit.co/" TargetMode="Externa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C9ADF8-C36F-C2B7-47FC-D2BDD919F38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 for SAS Users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0581EB-66C3-EA1F-86D9-CEE1B44F1C1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Melinda Higgins</a:t>
            </a:r>
          </a:p>
          <a:p>
            <a:endParaRPr lang="en-US" dirty="0"/>
          </a:p>
          <a:p>
            <a:r>
              <a:rPr lang="en-US" dirty="0">
                <a:hlinkClick r:id="rId2"/>
              </a:rPr>
              <a:t>https://statisticalhorizons.com/seminars/r-sas-users/</a:t>
            </a:r>
            <a:r>
              <a:rPr lang="en-US" dirty="0"/>
              <a:t>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F25ADE9-1649-CD07-81EC-C3B5D5EA36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 For SAS Users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598394F-15AD-F5AB-EBC3-1B1751B625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5A5612-A093-4C82-99C7-105DA87E15B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06099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15D7FD-DC18-023F-AFB9-B4E5A9930D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2-day Workshop: May 28-29, 2026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9E5738-A54C-DE70-F8CB-5817675F2E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Day 1:</a:t>
            </a:r>
          </a:p>
          <a:p>
            <a:pPr lvl="1"/>
            <a:r>
              <a:rPr lang="en-US" dirty="0"/>
              <a:t>10:30 - 12:30 am</a:t>
            </a:r>
          </a:p>
          <a:p>
            <a:pPr lvl="2"/>
            <a:r>
              <a:rPr lang="en-US" dirty="0"/>
              <a:t>30 minute break</a:t>
            </a:r>
          </a:p>
          <a:p>
            <a:pPr lvl="1"/>
            <a:r>
              <a:rPr lang="en-US" dirty="0"/>
              <a:t>1:00 - 3:00 pm</a:t>
            </a:r>
          </a:p>
          <a:p>
            <a:endParaRPr lang="en-US" dirty="0"/>
          </a:p>
          <a:p>
            <a:r>
              <a:rPr lang="en-US" dirty="0"/>
              <a:t>Day 2:</a:t>
            </a:r>
          </a:p>
          <a:p>
            <a:pPr lvl="1"/>
            <a:r>
              <a:rPr lang="en-US" dirty="0"/>
              <a:t>10:30 - 12:30 am</a:t>
            </a:r>
          </a:p>
          <a:p>
            <a:pPr lvl="2"/>
            <a:r>
              <a:rPr lang="en-US" dirty="0"/>
              <a:t>30 minute break</a:t>
            </a:r>
          </a:p>
          <a:p>
            <a:pPr lvl="1"/>
            <a:r>
              <a:rPr lang="en-US" dirty="0"/>
              <a:t>1:00 - 3:00 pm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1800" i="1" dirty="0"/>
              <a:t>All Times EDT (Eastern Daylight Time = UTC-4)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E1AA81-944F-CC9D-1D0F-05AFD4871F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 For SAS Users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DE8D56-6C13-FEED-7B04-2A3AD03F2A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5A5612-A093-4C82-99C7-105DA87E15B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41488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B654B0-908F-1AB9-3024-AB1DCE7407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Workshop Resources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3F5C81-3EFE-E04D-DF41-693AEFCCD0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GoogleDrive</a:t>
            </a:r>
            <a:endParaRPr lang="en-US" dirty="0"/>
          </a:p>
          <a:p>
            <a:pPr lvl="1"/>
            <a:r>
              <a:rPr lang="en-US" dirty="0"/>
              <a:t>See Statistical Horizons Course Link</a:t>
            </a:r>
          </a:p>
          <a:p>
            <a:r>
              <a:rPr lang="en-US" dirty="0"/>
              <a:t>SLACK:</a:t>
            </a:r>
          </a:p>
          <a:p>
            <a:pPr lvl="1"/>
            <a:r>
              <a:rPr lang="en-US" u="sng" dirty="0">
                <a:hlinkClick r:id="rId2"/>
              </a:rPr>
              <a:t>https://r-for-sas-users-sh.slack.com</a:t>
            </a:r>
            <a:r>
              <a:rPr lang="en-US" u="sng" dirty="0"/>
              <a:t> </a:t>
            </a:r>
            <a:endParaRPr lang="en-US" dirty="0"/>
          </a:p>
          <a:p>
            <a:r>
              <a:rPr lang="en-US" dirty="0"/>
              <a:t>WEBSITE:</a:t>
            </a:r>
          </a:p>
          <a:p>
            <a:pPr lvl="1"/>
            <a:r>
              <a:rPr lang="en-US" dirty="0">
                <a:hlinkClick r:id="rId3"/>
              </a:rPr>
              <a:t>https://tinyurl.com/r4sasusers</a:t>
            </a:r>
            <a:endParaRPr lang="en-US" dirty="0"/>
          </a:p>
          <a:p>
            <a:r>
              <a:rPr lang="en-US" dirty="0"/>
              <a:t>H.E.L.P. Dataset and “SAS and R” Book</a:t>
            </a:r>
          </a:p>
          <a:p>
            <a:pPr lvl="1"/>
            <a:r>
              <a:rPr lang="en-US" dirty="0">
                <a:hlinkClick r:id="rId4"/>
              </a:rPr>
              <a:t>https://nhorton.people.amherst.edu/sasr2/datasets.php</a:t>
            </a:r>
            <a:r>
              <a:rPr lang="en-US" dirty="0"/>
              <a:t> </a:t>
            </a:r>
          </a:p>
          <a:p>
            <a:pPr lvl="1"/>
            <a:r>
              <a:rPr lang="en-US" dirty="0">
                <a:hlinkClick r:id="rId5"/>
              </a:rPr>
              <a:t>https://nhorton.people.amherst.edu/sasr2/</a:t>
            </a:r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2DAEFDD-31A5-A37D-E550-59CD961087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 For SAS Users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08A360-42A8-3F1B-CDD0-478EEBBA4B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5A5612-A093-4C82-99C7-105DA87E15B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35017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71FC8397-2E2E-9D96-59CF-54AF88D2B7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Compare R and SAS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094C96D3-CA80-07AC-257D-5BFB21B5B0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R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D86DFB4B-164E-036E-6061-AE5A7A6761B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Bare Bones (89MB)</a:t>
            </a:r>
          </a:p>
          <a:p>
            <a:r>
              <a:rPr lang="en-US" dirty="0"/>
              <a:t>Takes up little memory</a:t>
            </a:r>
          </a:p>
          <a:p>
            <a:r>
              <a:rPr lang="en-US" dirty="0"/>
              <a:t>Powerful base packages included</a:t>
            </a:r>
          </a:p>
          <a:p>
            <a:r>
              <a:rPr lang="en-US" dirty="0"/>
              <a:t>FREE/Open Source</a:t>
            </a:r>
          </a:p>
          <a:p>
            <a:r>
              <a:rPr lang="en-US" dirty="0"/>
              <a:t>Add “packages” as you go – only “load” what you need at that time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66083BC0-06F6-B88B-8306-A43772E55B4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SAS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04D138D3-F684-5D13-0B40-4315D0E2BF53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dirty="0"/>
              <a:t>Have to buy base $$ &amp; Large (20GB+)</a:t>
            </a:r>
          </a:p>
          <a:p>
            <a:r>
              <a:rPr lang="en-US" dirty="0"/>
              <a:t>Almost always have to buy add-ons, gets expensive $$</a:t>
            </a:r>
          </a:p>
          <a:p>
            <a:r>
              <a:rPr lang="en-US" dirty="0"/>
              <a:t>Must know what you want ahead of time</a:t>
            </a:r>
          </a:p>
          <a:p>
            <a:r>
              <a:rPr lang="en-US" dirty="0"/>
              <a:t>Sometimes end up with more than you need</a:t>
            </a:r>
          </a:p>
          <a:p>
            <a:endParaRPr lang="en-US" dirty="0"/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68885F31-44C5-91B9-B8A6-DE96787999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 For SAS Users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AD66E64D-C0AC-69F8-EF36-97A9C83C3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5A5612-A093-4C82-99C7-105DA87E15B9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84835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CA170F-8849-6F48-EFDD-4275D827E2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868160"/>
          </a:xfrm>
        </p:spPr>
        <p:txBody>
          <a:bodyPr/>
          <a:lstStyle/>
          <a:p>
            <a:r>
              <a:rPr lang="en-US" dirty="0"/>
              <a:t>My Current SAS License Includes: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3374203-DA8A-3CFE-1CAE-C77A99B121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552" y="822437"/>
            <a:ext cx="4861981" cy="603556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CBAADF0-C493-A330-291E-24EFAAB6F9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4839" y="868161"/>
            <a:ext cx="3856054" cy="598983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C988403-0D1F-7051-D1FD-C6D1D83B3A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77944" y="1363801"/>
            <a:ext cx="3414056" cy="4130398"/>
          </a:xfrm>
          <a:prstGeom prst="rect">
            <a:avLst/>
          </a:prstGeom>
        </p:spPr>
      </p:pic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592B388-0667-9A3D-0F39-EC2AB74841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 For SAS Users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53EA32D-D11A-D376-E755-BB8C450190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5A5612-A093-4C82-99C7-105DA87E15B9}" type="slidenum">
              <a:rPr lang="en-US" smtClean="0"/>
              <a:t>5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B428CB8-CCBC-F119-429E-F1AA5CB1F22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1822" y="867565"/>
            <a:ext cx="5540220" cy="1646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1038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C4C148-9AD7-CEA5-7D01-9C498B020B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766916"/>
          </a:xfrm>
        </p:spPr>
        <p:txBody>
          <a:bodyPr/>
          <a:lstStyle/>
          <a:p>
            <a:r>
              <a:rPr lang="en-US" dirty="0"/>
              <a:t>SAS Software Components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75926BF-0521-7363-7B18-F2F3C9B9C5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 For SAS Users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C673F1-669B-8E96-E826-0398B61C70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5A5612-A093-4C82-99C7-105DA87E15B9}" type="slidenum">
              <a:rPr lang="en-US" smtClean="0"/>
              <a:t>6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ED81D88-CB15-8A99-C323-C90B8FA3C1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766917"/>
            <a:ext cx="5616427" cy="257578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FD4B180-3655-3442-3345-D24AC84BDF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4217" y="593817"/>
            <a:ext cx="3711262" cy="626418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06DBCF3-992C-194B-1057-C6FE1DEAB2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1495" y="1533833"/>
            <a:ext cx="4503810" cy="4366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70949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EF60CA-0AD8-3CB0-339C-F98E3D2F8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My Current R - Base Installation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51A764E-8F22-DBCF-7097-D3B61E19C1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7426" y="1355883"/>
            <a:ext cx="8436071" cy="5502117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6751B1F5-CEF7-7C9C-FC5B-98942E374477}"/>
              </a:ext>
            </a:extLst>
          </p:cNvPr>
          <p:cNvGrpSpPr/>
          <p:nvPr/>
        </p:nvGrpSpPr>
        <p:grpSpPr>
          <a:xfrm>
            <a:off x="1465006" y="4531196"/>
            <a:ext cx="9448800" cy="2326804"/>
            <a:chOff x="1465006" y="4531196"/>
            <a:chExt cx="9448800" cy="2326804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3E80C205-6CC4-C8AB-7B50-6FB69158D4AA}"/>
                </a:ext>
              </a:extLst>
            </p:cNvPr>
            <p:cNvSpPr txBox="1"/>
            <p:nvPr/>
          </p:nvSpPr>
          <p:spPr>
            <a:xfrm>
              <a:off x="8662220" y="4531196"/>
              <a:ext cx="2251586" cy="954107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r>
                <a:rPr lang="en-US" sz="2800" dirty="0"/>
                <a:t>Only 7 Base Packages</a:t>
              </a:r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010F884B-966B-BD38-F9A5-7910B208F8FD}"/>
                </a:ext>
              </a:extLst>
            </p:cNvPr>
            <p:cNvSpPr/>
            <p:nvPr/>
          </p:nvSpPr>
          <p:spPr>
            <a:xfrm>
              <a:off x="1465006" y="5938684"/>
              <a:ext cx="7659329" cy="919316"/>
            </a:xfrm>
            <a:prstGeom prst="roundRect">
              <a:avLst/>
            </a:prstGeom>
            <a:solidFill>
              <a:srgbClr val="156082">
                <a:alpha val="20000"/>
              </a:srgb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71E29530-8129-E491-6703-682BE186B66A}"/>
                </a:ext>
              </a:extLst>
            </p:cNvPr>
            <p:cNvCxnSpPr>
              <a:endCxn id="7" idx="0"/>
            </p:cNvCxnSpPr>
            <p:nvPr/>
          </p:nvCxnSpPr>
          <p:spPr>
            <a:xfrm flipH="1">
              <a:off x="5294671" y="4788310"/>
              <a:ext cx="3298723" cy="1150374"/>
            </a:xfrm>
            <a:prstGeom prst="straightConnector1">
              <a:avLst/>
            </a:prstGeom>
            <a:ln w="762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DEF3E5D1-BD45-7DFE-44D9-EC6F7E3906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 For SAS Users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26950E3E-A4D3-CB99-C7E3-96CA994E15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5A5612-A093-4C82-99C7-105DA87E15B9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56601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284C53-E2A2-8F60-ACB1-6B96F9B1D8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Interfaces – SAS Base; SAS Studio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E29D5DC-CE6F-286B-50BC-377E1AA89E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 For SAS Users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919AA4-0EAD-7CB2-ACCC-05F90B4B37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5A5612-A093-4C82-99C7-105DA87E15B9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29652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11688992-D104-3432-F761-36D06ED9C5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0"/>
            <a:ext cx="10668000" cy="6858000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5B1B190-6350-7E9C-0A38-9C6F897DC8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 For SAS Users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91AB881-403C-B95A-5AA8-49C729D85D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5A5612-A093-4C82-99C7-105DA87E15B9}" type="slidenum">
              <a:rPr lang="en-US" smtClean="0"/>
              <a:t>9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60CEC5C-BB8A-1356-9DED-42F7CC09DFB3}"/>
              </a:ext>
            </a:extLst>
          </p:cNvPr>
          <p:cNvSpPr txBox="1"/>
          <p:nvPr/>
        </p:nvSpPr>
        <p:spPr>
          <a:xfrm>
            <a:off x="8288594" y="1690688"/>
            <a:ext cx="2754921" cy="120032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3600" dirty="0"/>
              <a:t>Basic SAS </a:t>
            </a:r>
          </a:p>
          <a:p>
            <a:r>
              <a:rPr lang="en-US" sz="3600" dirty="0"/>
              <a:t>IDE Interface</a:t>
            </a:r>
          </a:p>
        </p:txBody>
      </p:sp>
    </p:spTree>
    <p:extLst>
      <p:ext uri="{BB962C8B-B14F-4D97-AF65-F5344CB8AC3E}">
        <p14:creationId xmlns:p14="http://schemas.microsoft.com/office/powerpoint/2010/main" val="34569375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56D055C-A56E-A398-23F0-19D1E2E620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 For SAS Users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F8D63B6-0788-ABA8-AF2F-417A6A84DF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5A5612-A093-4C82-99C7-105DA87E15B9}" type="slidenum">
              <a:rPr lang="en-US" smtClean="0"/>
              <a:t>10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20A53F8-6440-8F9D-AD67-C6E63AA0B6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0025"/>
            <a:ext cx="12192000" cy="6457950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E3F70F5E-D8A5-8FAC-808F-C999C1A10C13}"/>
              </a:ext>
            </a:extLst>
          </p:cNvPr>
          <p:cNvSpPr/>
          <p:nvPr/>
        </p:nvSpPr>
        <p:spPr>
          <a:xfrm>
            <a:off x="2497394" y="5171768"/>
            <a:ext cx="4689987" cy="698090"/>
          </a:xfrm>
          <a:prstGeom prst="roundRect">
            <a:avLst/>
          </a:prstGeom>
          <a:solidFill>
            <a:srgbClr val="FFFF00">
              <a:alpha val="2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chemeClr val="tx1"/>
                </a:solidFill>
              </a:rPr>
              <a:t>SAS Program Script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89A7C7F-98FD-5D29-EC4E-CDD1367591C6}"/>
              </a:ext>
            </a:extLst>
          </p:cNvPr>
          <p:cNvSpPr/>
          <p:nvPr/>
        </p:nvSpPr>
        <p:spPr>
          <a:xfrm>
            <a:off x="9753600" y="3810001"/>
            <a:ext cx="2138517" cy="698090"/>
          </a:xfrm>
          <a:prstGeom prst="roundRect">
            <a:avLst/>
          </a:prstGeom>
          <a:solidFill>
            <a:srgbClr val="FFFF00">
              <a:alpha val="2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chemeClr val="tx1"/>
                </a:solidFill>
              </a:rPr>
              <a:t>Results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154C05A-D33F-9538-CC2A-1C3F39F8DE3B}"/>
              </a:ext>
            </a:extLst>
          </p:cNvPr>
          <p:cNvSpPr/>
          <p:nvPr/>
        </p:nvSpPr>
        <p:spPr>
          <a:xfrm>
            <a:off x="3102080" y="2336852"/>
            <a:ext cx="2885765" cy="698090"/>
          </a:xfrm>
          <a:prstGeom prst="roundRect">
            <a:avLst/>
          </a:prstGeom>
          <a:solidFill>
            <a:srgbClr val="FFFF00">
              <a:alpha val="2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chemeClr val="tx1"/>
                </a:solidFill>
              </a:rPr>
              <a:t>Output LOG</a:t>
            </a:r>
          </a:p>
        </p:txBody>
      </p:sp>
    </p:spTree>
    <p:extLst>
      <p:ext uri="{BB962C8B-B14F-4D97-AF65-F5344CB8AC3E}">
        <p14:creationId xmlns:p14="http://schemas.microsoft.com/office/powerpoint/2010/main" val="41246910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E2436CB-98A6-7D6C-EC18-84D090001B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427941"/>
            <a:ext cx="12192000" cy="6146800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E0A271B-E215-2517-C956-7EF5D9A8DC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 For SAS Users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5005D7F-7497-7D14-DEE9-46016FE76E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5A5612-A093-4C82-99C7-105DA87E15B9}" type="slidenum">
              <a:rPr lang="en-US" smtClean="0"/>
              <a:t>11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254E7C2-5848-20FA-A48E-EF2DC8859964}"/>
              </a:ext>
            </a:extLst>
          </p:cNvPr>
          <p:cNvSpPr txBox="1"/>
          <p:nvPr/>
        </p:nvSpPr>
        <p:spPr>
          <a:xfrm>
            <a:off x="3111909" y="0"/>
            <a:ext cx="5968181" cy="64633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3600" dirty="0"/>
              <a:t>SAS Studio Interface IDE/GUI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A9211E3-8EE3-F292-552D-3C917AE5F889}"/>
              </a:ext>
            </a:extLst>
          </p:cNvPr>
          <p:cNvSpPr/>
          <p:nvPr/>
        </p:nvSpPr>
        <p:spPr>
          <a:xfrm>
            <a:off x="8359877" y="2219288"/>
            <a:ext cx="3244645" cy="1391247"/>
          </a:xfrm>
          <a:prstGeom prst="roundRect">
            <a:avLst/>
          </a:prstGeom>
          <a:solidFill>
            <a:srgbClr val="FFFF00">
              <a:alpha val="2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chemeClr val="tx1"/>
                </a:solidFill>
              </a:rPr>
              <a:t>SAS Program</a:t>
            </a:r>
          </a:p>
          <a:p>
            <a:pPr algn="ctr"/>
            <a:r>
              <a:rPr lang="en-US" sz="3600" b="1" dirty="0">
                <a:solidFill>
                  <a:schemeClr val="tx1"/>
                </a:solidFill>
              </a:rPr>
              <a:t>Script</a:t>
            </a:r>
          </a:p>
        </p:txBody>
      </p:sp>
    </p:spTree>
    <p:extLst>
      <p:ext uri="{BB962C8B-B14F-4D97-AF65-F5344CB8AC3E}">
        <p14:creationId xmlns:p14="http://schemas.microsoft.com/office/powerpoint/2010/main" val="31421558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3028A50C-60A2-91B0-8485-3AAC9FB2A8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58775"/>
            <a:ext cx="12192000" cy="6140450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02CF9B2-4416-639F-9C76-DD4333626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 For SAS Users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698B63C-1B25-3C79-C211-65889F7682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5A5612-A093-4C82-99C7-105DA87E15B9}" type="slidenum">
              <a:rPr lang="en-US" smtClean="0"/>
              <a:t>12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625C444-43CA-631D-1F95-7F792244F661}"/>
              </a:ext>
            </a:extLst>
          </p:cNvPr>
          <p:cNvSpPr txBox="1"/>
          <p:nvPr/>
        </p:nvSpPr>
        <p:spPr>
          <a:xfrm>
            <a:off x="3111909" y="0"/>
            <a:ext cx="5968181" cy="64633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3600" dirty="0"/>
              <a:t>SAS Studio Interface IDE/GUI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D653208-FC5E-542E-DE92-26A3312A9B88}"/>
              </a:ext>
            </a:extLst>
          </p:cNvPr>
          <p:cNvSpPr/>
          <p:nvPr/>
        </p:nvSpPr>
        <p:spPr>
          <a:xfrm>
            <a:off x="8539317" y="1668259"/>
            <a:ext cx="2885765" cy="698090"/>
          </a:xfrm>
          <a:prstGeom prst="roundRect">
            <a:avLst/>
          </a:prstGeom>
          <a:solidFill>
            <a:srgbClr val="FFFF00">
              <a:alpha val="2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chemeClr val="tx1"/>
                </a:solidFill>
              </a:rPr>
              <a:t>Output LOG</a:t>
            </a:r>
          </a:p>
        </p:txBody>
      </p:sp>
    </p:spTree>
    <p:extLst>
      <p:ext uri="{BB962C8B-B14F-4D97-AF65-F5344CB8AC3E}">
        <p14:creationId xmlns:p14="http://schemas.microsoft.com/office/powerpoint/2010/main" val="2374220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2876F64-2662-6260-F0B4-1DDF6E4A02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55600"/>
            <a:ext cx="12192000" cy="6146800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3B43372-AC5D-A31D-4157-2C3EB56885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 For SAS Users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4B2F29A-27B2-5A38-D625-1996D89FFD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5A5612-A093-4C82-99C7-105DA87E15B9}" type="slidenum">
              <a:rPr lang="en-US" smtClean="0"/>
              <a:t>13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5F95938-9DD7-1169-BB22-CA7671D4B72D}"/>
              </a:ext>
            </a:extLst>
          </p:cNvPr>
          <p:cNvSpPr txBox="1"/>
          <p:nvPr/>
        </p:nvSpPr>
        <p:spPr>
          <a:xfrm>
            <a:off x="3111909" y="0"/>
            <a:ext cx="5968181" cy="64633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3600" dirty="0"/>
              <a:t>SAS Studio Interface IDE/GUI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BA4BA94-F2C6-C2E5-9F05-E832C6E1BE52}"/>
              </a:ext>
            </a:extLst>
          </p:cNvPr>
          <p:cNvSpPr/>
          <p:nvPr/>
        </p:nvSpPr>
        <p:spPr>
          <a:xfrm>
            <a:off x="7084141" y="1204453"/>
            <a:ext cx="2138517" cy="698090"/>
          </a:xfrm>
          <a:prstGeom prst="roundRect">
            <a:avLst/>
          </a:prstGeom>
          <a:solidFill>
            <a:srgbClr val="FFFF00">
              <a:alpha val="2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chemeClr val="tx1"/>
                </a:solidFill>
              </a:rPr>
              <a:t>Results</a:t>
            </a:r>
          </a:p>
        </p:txBody>
      </p:sp>
    </p:spTree>
    <p:extLst>
      <p:ext uri="{BB962C8B-B14F-4D97-AF65-F5344CB8AC3E}">
        <p14:creationId xmlns:p14="http://schemas.microsoft.com/office/powerpoint/2010/main" val="33055300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8249A3-F0D4-0530-D748-07785CDCDC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Interfaces – R Basic; </a:t>
            </a:r>
            <a:r>
              <a:rPr lang="en-US" dirty="0" err="1"/>
              <a:t>Rstudio</a:t>
            </a:r>
            <a:r>
              <a:rPr lang="en-US" dirty="0"/>
              <a:t> IDE; Positron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AF287176-EEF7-BB9A-6C85-7CC4EB1606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 (from CRAN) – FREE – comes with a basic programming interface</a:t>
            </a:r>
          </a:p>
          <a:p>
            <a:pPr lvl="1"/>
            <a:r>
              <a:rPr lang="en-US" dirty="0">
                <a:hlinkClick r:id="rId2"/>
              </a:rPr>
              <a:t>https://cran.r-project.org/</a:t>
            </a:r>
            <a:r>
              <a:rPr lang="en-US" dirty="0"/>
              <a:t> </a:t>
            </a:r>
          </a:p>
          <a:p>
            <a:r>
              <a:rPr lang="en-US" dirty="0" err="1"/>
              <a:t>Rstudio</a:t>
            </a:r>
            <a:r>
              <a:rPr lang="en-US" dirty="0"/>
              <a:t> is an IDE = Integrated Development Environment</a:t>
            </a:r>
          </a:p>
          <a:p>
            <a:pPr lvl="1"/>
            <a:r>
              <a:rPr lang="en-US" dirty="0">
                <a:hlinkClick r:id="rId3"/>
              </a:rPr>
              <a:t>https://posit.co/download/rstudio-desktop</a:t>
            </a:r>
            <a:r>
              <a:rPr lang="en-US" dirty="0"/>
              <a:t> </a:t>
            </a:r>
          </a:p>
          <a:p>
            <a:r>
              <a:rPr lang="en-US" dirty="0"/>
              <a:t>Positron is the next evolution of programming interfaces</a:t>
            </a:r>
          </a:p>
          <a:p>
            <a:pPr lvl="1"/>
            <a:r>
              <a:rPr lang="en-US" dirty="0">
                <a:hlinkClick r:id="rId4"/>
              </a:rPr>
              <a:t>https://positron.posit.co/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Learn more, </a:t>
            </a:r>
            <a:r>
              <a:rPr lang="en-US" dirty="0">
                <a:hlinkClick r:id="rId5"/>
              </a:rPr>
              <a:t>https://positron.posit.co/migrate-rstudio-compare.html</a:t>
            </a:r>
            <a:r>
              <a:rPr lang="en-US" dirty="0"/>
              <a:t> 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576CA51-5F29-498C-2F6E-23EA36BC08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 For SAS Users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3FB482-C06D-B999-2183-3E824C616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5A5612-A093-4C82-99C7-105DA87E15B9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30992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F55CA8-443E-6898-D46F-50DA487BF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B1798D5-038C-D0EA-D574-3106F94C73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703" y="0"/>
            <a:ext cx="10800594" cy="6858000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7A04737-8C6C-EEF2-02C7-64CB3A6C3C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 For SAS Users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94DD38-7319-8910-7CA8-F39518341C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5A5612-A093-4C82-99C7-105DA87E15B9}" type="slidenum">
              <a:rPr lang="en-US" smtClean="0"/>
              <a:t>15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87333A9-2C41-CD50-4321-3DE77057BA5E}"/>
              </a:ext>
            </a:extLst>
          </p:cNvPr>
          <p:cNvSpPr txBox="1"/>
          <p:nvPr/>
        </p:nvSpPr>
        <p:spPr>
          <a:xfrm>
            <a:off x="7557064" y="1474838"/>
            <a:ext cx="3537187" cy="64633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3600" dirty="0"/>
              <a:t>R Basic Interface</a:t>
            </a:r>
          </a:p>
        </p:txBody>
      </p:sp>
    </p:spTree>
    <p:extLst>
      <p:ext uri="{BB962C8B-B14F-4D97-AF65-F5344CB8AC3E}">
        <p14:creationId xmlns:p14="http://schemas.microsoft.com/office/powerpoint/2010/main" val="30111074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531704A-9382-764E-442C-071DE66FBE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 For SAS Users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978920E-502E-99F0-84D6-7004B1BE09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5A5612-A093-4C82-99C7-105DA87E15B9}" type="slidenum">
              <a:rPr lang="en-US" smtClean="0"/>
              <a:t>16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0DE9D25-F792-0A4F-0913-CE65FC44F6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8046"/>
            <a:ext cx="12192000" cy="650190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4DEB6EB-FAE1-C776-BFCF-8F010E31CB7C}"/>
              </a:ext>
            </a:extLst>
          </p:cNvPr>
          <p:cNvSpPr txBox="1"/>
          <p:nvPr/>
        </p:nvSpPr>
        <p:spPr>
          <a:xfrm>
            <a:off x="0" y="6211669"/>
            <a:ext cx="9754337" cy="64633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3600" dirty="0"/>
              <a:t>R Basic Interface – similar to SAS Basic Interface</a:t>
            </a:r>
          </a:p>
        </p:txBody>
      </p:sp>
    </p:spTree>
    <p:extLst>
      <p:ext uri="{BB962C8B-B14F-4D97-AF65-F5344CB8AC3E}">
        <p14:creationId xmlns:p14="http://schemas.microsoft.com/office/powerpoint/2010/main" val="277372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6F3AABE-4062-C6D7-518E-65B5D58FF0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 For SAS Users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A5927BD-F656-23FB-1C7B-CA99761E45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5A5612-A093-4C82-99C7-105DA87E15B9}" type="slidenum">
              <a:rPr lang="en-US" smtClean="0"/>
              <a:t>17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8A8DAEE-984C-696E-D1A7-D9E13A4AB7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6658"/>
            <a:ext cx="12192000" cy="646468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732AC8C-0095-32DB-3F1E-F403A698F9D5}"/>
              </a:ext>
            </a:extLst>
          </p:cNvPr>
          <p:cNvSpPr txBox="1"/>
          <p:nvPr/>
        </p:nvSpPr>
        <p:spPr>
          <a:xfrm>
            <a:off x="4842836" y="0"/>
            <a:ext cx="2506327" cy="64633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3600" dirty="0" err="1"/>
              <a:t>Rstudio</a:t>
            </a:r>
            <a:r>
              <a:rPr lang="en-US" sz="3600" dirty="0"/>
              <a:t> IDE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D26B7F5-F355-3632-12F9-33ABAF18EBF0}"/>
              </a:ext>
            </a:extLst>
          </p:cNvPr>
          <p:cNvSpPr/>
          <p:nvPr/>
        </p:nvSpPr>
        <p:spPr>
          <a:xfrm>
            <a:off x="0" y="3429000"/>
            <a:ext cx="7108723" cy="3429000"/>
          </a:xfrm>
          <a:prstGeom prst="roundRect">
            <a:avLst/>
          </a:prstGeom>
          <a:solidFill>
            <a:srgbClr val="FFFF00">
              <a:alpha val="2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chemeClr val="tx1"/>
                </a:solidFill>
              </a:rPr>
              <a:t>Console,</a:t>
            </a:r>
          </a:p>
          <a:p>
            <a:pPr algn="ctr"/>
            <a:r>
              <a:rPr lang="en-US" sz="3600" b="1" dirty="0">
                <a:solidFill>
                  <a:schemeClr val="tx1"/>
                </a:solidFill>
              </a:rPr>
              <a:t>Terminal,</a:t>
            </a:r>
          </a:p>
          <a:p>
            <a:pPr algn="ctr"/>
            <a:r>
              <a:rPr lang="en-US" sz="3600" b="1" dirty="0">
                <a:solidFill>
                  <a:schemeClr val="tx1"/>
                </a:solidFill>
              </a:rPr>
              <a:t>Background Jobs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1AF9FFC-AB35-E1E5-212A-CFD3436EC2DF}"/>
              </a:ext>
            </a:extLst>
          </p:cNvPr>
          <p:cNvSpPr/>
          <p:nvPr/>
        </p:nvSpPr>
        <p:spPr>
          <a:xfrm>
            <a:off x="0" y="646331"/>
            <a:ext cx="7108723" cy="2646144"/>
          </a:xfrm>
          <a:prstGeom prst="roundRect">
            <a:avLst/>
          </a:prstGeom>
          <a:solidFill>
            <a:srgbClr val="FFFF00">
              <a:alpha val="2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chemeClr val="tx1"/>
                </a:solidFill>
              </a:rPr>
              <a:t>Source, </a:t>
            </a:r>
          </a:p>
          <a:p>
            <a:pPr algn="ctr"/>
            <a:r>
              <a:rPr lang="en-US" sz="3600" b="1" dirty="0">
                <a:solidFill>
                  <a:schemeClr val="tx1"/>
                </a:solidFill>
              </a:rPr>
              <a:t>Scripts, RMD, …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CCC97D3-C4B8-D911-A553-9BF7DF4466E6}"/>
              </a:ext>
            </a:extLst>
          </p:cNvPr>
          <p:cNvSpPr/>
          <p:nvPr/>
        </p:nvSpPr>
        <p:spPr>
          <a:xfrm>
            <a:off x="6789175" y="684527"/>
            <a:ext cx="5402826" cy="2646144"/>
          </a:xfrm>
          <a:prstGeom prst="roundRect">
            <a:avLst/>
          </a:prstGeom>
          <a:solidFill>
            <a:srgbClr val="FFFF00">
              <a:alpha val="2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chemeClr val="tx1"/>
                </a:solidFill>
              </a:rPr>
              <a:t>Environment,</a:t>
            </a:r>
          </a:p>
          <a:p>
            <a:pPr algn="ctr"/>
            <a:r>
              <a:rPr lang="en-US" sz="3600" b="1" dirty="0">
                <a:solidFill>
                  <a:schemeClr val="tx1"/>
                </a:solidFill>
              </a:rPr>
              <a:t>History, …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A5657C16-A18E-3C9A-AEAC-841F94F129D7}"/>
              </a:ext>
            </a:extLst>
          </p:cNvPr>
          <p:cNvSpPr/>
          <p:nvPr/>
        </p:nvSpPr>
        <p:spPr>
          <a:xfrm>
            <a:off x="6789175" y="3467196"/>
            <a:ext cx="5402826" cy="3383913"/>
          </a:xfrm>
          <a:prstGeom prst="roundRect">
            <a:avLst/>
          </a:prstGeom>
          <a:solidFill>
            <a:srgbClr val="FFFF00">
              <a:alpha val="2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chemeClr val="tx1"/>
                </a:solidFill>
              </a:rPr>
              <a:t>Files, Plots, Packages,</a:t>
            </a:r>
          </a:p>
          <a:p>
            <a:pPr algn="ctr"/>
            <a:r>
              <a:rPr lang="en-US" sz="3600" b="1" dirty="0">
                <a:solidFill>
                  <a:schemeClr val="tx1"/>
                </a:solidFill>
              </a:rPr>
              <a:t>Help, Viewer,…</a:t>
            </a:r>
          </a:p>
        </p:txBody>
      </p:sp>
    </p:spTree>
    <p:extLst>
      <p:ext uri="{BB962C8B-B14F-4D97-AF65-F5344CB8AC3E}">
        <p14:creationId xmlns:p14="http://schemas.microsoft.com/office/powerpoint/2010/main" val="23728791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  <p:bldP spid="8" grpId="0" animBg="1"/>
      <p:bldP spid="9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7F723563-B67A-6091-2837-0A5A95AADA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6850"/>
            <a:ext cx="12192000" cy="6464300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891C981-F2C0-FA55-8667-25181E9F02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 For SAS Users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4AF576-A05F-6D61-5FA1-DBF7E9F7F6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5A5612-A093-4C82-99C7-105DA87E15B9}" type="slidenum">
              <a:rPr lang="en-US" smtClean="0"/>
              <a:t>18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818721B-D57F-ED41-DFD9-C15D15B982BA}"/>
              </a:ext>
            </a:extLst>
          </p:cNvPr>
          <p:cNvSpPr txBox="1"/>
          <p:nvPr/>
        </p:nvSpPr>
        <p:spPr>
          <a:xfrm>
            <a:off x="4786795" y="0"/>
            <a:ext cx="2618409" cy="64633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3600" dirty="0"/>
              <a:t>Positron IDE</a:t>
            </a:r>
          </a:p>
        </p:txBody>
      </p:sp>
    </p:spTree>
    <p:extLst>
      <p:ext uri="{BB962C8B-B14F-4D97-AF65-F5344CB8AC3E}">
        <p14:creationId xmlns:p14="http://schemas.microsoft.com/office/powerpoint/2010/main" val="49868217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F1D3A7-4A11-5BBB-E0F1-C4442368AF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SAS Session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5B7BFF5-E839-8027-7746-DAB7D7E9B3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6017" y="1580990"/>
            <a:ext cx="8839966" cy="3696020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7DE9FC-BA8F-13E6-1663-FB951337C0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 For SAS Users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622A35-A3C8-1865-7981-777015760D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5A5612-A093-4C82-99C7-105DA87E15B9}" type="slidenum">
              <a:rPr lang="en-US" smtClean="0"/>
              <a:t>19</a:t>
            </a:fld>
            <a:endParaRPr lang="en-US"/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0D3B3732-4626-A062-2266-24B9E89C75A7}"/>
              </a:ext>
            </a:extLst>
          </p:cNvPr>
          <p:cNvGrpSpPr/>
          <p:nvPr/>
        </p:nvGrpSpPr>
        <p:grpSpPr>
          <a:xfrm>
            <a:off x="4406593" y="3059538"/>
            <a:ext cx="7577046" cy="988040"/>
            <a:chOff x="4406593" y="3059538"/>
            <a:chExt cx="7577046" cy="988040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98FC9386-0230-F6EA-FF56-AE682C950CCC}"/>
                </a:ext>
              </a:extLst>
            </p:cNvPr>
            <p:cNvSpPr txBox="1"/>
            <p:nvPr/>
          </p:nvSpPr>
          <p:spPr>
            <a:xfrm>
              <a:off x="8657495" y="3287089"/>
              <a:ext cx="3326144" cy="52322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sz="2800" dirty="0"/>
                <a:t>Products Included</a:t>
              </a:r>
            </a:p>
          </p:txBody>
        </p:sp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30A04009-2D07-A5EA-6A72-1BBF31867872}"/>
                </a:ext>
              </a:extLst>
            </p:cNvPr>
            <p:cNvSpPr/>
            <p:nvPr/>
          </p:nvSpPr>
          <p:spPr>
            <a:xfrm>
              <a:off x="4406593" y="3059538"/>
              <a:ext cx="2456324" cy="988040"/>
            </a:xfrm>
            <a:prstGeom prst="roundRect">
              <a:avLst/>
            </a:prstGeom>
            <a:solidFill>
              <a:srgbClr val="156082">
                <a:alpha val="20000"/>
              </a:srgb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B4DA9034-F03C-44EE-7331-9BE2A7C9D307}"/>
                </a:ext>
              </a:extLst>
            </p:cNvPr>
            <p:cNvCxnSpPr>
              <a:cxnSpLocks/>
              <a:stCxn id="7" idx="1"/>
              <a:endCxn id="8" idx="3"/>
            </p:cNvCxnSpPr>
            <p:nvPr/>
          </p:nvCxnSpPr>
          <p:spPr>
            <a:xfrm flipH="1">
              <a:off x="6862917" y="3548699"/>
              <a:ext cx="1794578" cy="4859"/>
            </a:xfrm>
            <a:prstGeom prst="straightConnector1">
              <a:avLst/>
            </a:prstGeom>
            <a:ln w="762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0E236555-56DB-F5ED-F138-972A271CAEB9}"/>
              </a:ext>
            </a:extLst>
          </p:cNvPr>
          <p:cNvGrpSpPr/>
          <p:nvPr/>
        </p:nvGrpSpPr>
        <p:grpSpPr>
          <a:xfrm>
            <a:off x="4436997" y="227650"/>
            <a:ext cx="7546642" cy="2678903"/>
            <a:chOff x="4436997" y="227650"/>
            <a:chExt cx="7546642" cy="2678903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14F9273E-F4D9-9A62-AFC1-B7C672E84D31}"/>
                </a:ext>
              </a:extLst>
            </p:cNvPr>
            <p:cNvSpPr txBox="1"/>
            <p:nvPr/>
          </p:nvSpPr>
          <p:spPr>
            <a:xfrm>
              <a:off x="8493679" y="227650"/>
              <a:ext cx="3489960" cy="954107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sz="2800" dirty="0"/>
                <a:t>SAS Version and</a:t>
              </a:r>
            </a:p>
            <a:p>
              <a:pPr algn="ctr"/>
              <a:r>
                <a:rPr lang="en-US" sz="2800" dirty="0"/>
                <a:t>Local System Details</a:t>
              </a:r>
            </a:p>
          </p:txBody>
        </p: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9C62EB17-AA89-0D4F-45D5-5E5187E2F14C}"/>
                </a:ext>
              </a:extLst>
            </p:cNvPr>
            <p:cNvCxnSpPr>
              <a:cxnSpLocks/>
              <a:stCxn id="11" idx="2"/>
              <a:endCxn id="13" idx="0"/>
            </p:cNvCxnSpPr>
            <p:nvPr/>
          </p:nvCxnSpPr>
          <p:spPr>
            <a:xfrm flipH="1">
              <a:off x="7476490" y="1181757"/>
              <a:ext cx="2762169" cy="1039381"/>
            </a:xfrm>
            <a:prstGeom prst="straightConnector1">
              <a:avLst/>
            </a:prstGeom>
            <a:ln w="762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400AA46C-F303-237D-1F0D-5A089D1C6A68}"/>
                </a:ext>
              </a:extLst>
            </p:cNvPr>
            <p:cNvSpPr/>
            <p:nvPr/>
          </p:nvSpPr>
          <p:spPr>
            <a:xfrm>
              <a:off x="4436997" y="2221138"/>
              <a:ext cx="6078986" cy="685415"/>
            </a:xfrm>
            <a:prstGeom prst="roundRect">
              <a:avLst/>
            </a:prstGeom>
            <a:solidFill>
              <a:srgbClr val="156082">
                <a:alpha val="20000"/>
              </a:srgb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7DF4489D-93C9-C103-4EEB-86A342840D3F}"/>
              </a:ext>
            </a:extLst>
          </p:cNvPr>
          <p:cNvGrpSpPr/>
          <p:nvPr/>
        </p:nvGrpSpPr>
        <p:grpSpPr>
          <a:xfrm>
            <a:off x="4433120" y="4190846"/>
            <a:ext cx="7550519" cy="523220"/>
            <a:chOff x="4433120" y="4190846"/>
            <a:chExt cx="7550519" cy="523220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B9CB4ADF-6460-B975-803C-2B11B3ED0B7D}"/>
                </a:ext>
              </a:extLst>
            </p:cNvPr>
            <p:cNvSpPr txBox="1"/>
            <p:nvPr/>
          </p:nvSpPr>
          <p:spPr>
            <a:xfrm>
              <a:off x="8684916" y="4190846"/>
              <a:ext cx="3298723" cy="52322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sz="2800" dirty="0"/>
                <a:t>Operating System</a:t>
              </a:r>
            </a:p>
          </p:txBody>
        </p: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13165EF4-C248-6785-C4F3-0EE4E364CABB}"/>
                </a:ext>
              </a:extLst>
            </p:cNvPr>
            <p:cNvCxnSpPr>
              <a:cxnSpLocks/>
              <a:stCxn id="19" idx="1"/>
              <a:endCxn id="21" idx="3"/>
            </p:cNvCxnSpPr>
            <p:nvPr/>
          </p:nvCxnSpPr>
          <p:spPr>
            <a:xfrm flipH="1">
              <a:off x="7580671" y="4452456"/>
              <a:ext cx="1104245" cy="9467"/>
            </a:xfrm>
            <a:prstGeom prst="straightConnector1">
              <a:avLst/>
            </a:prstGeom>
            <a:ln w="762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: Rounded Corners 20">
              <a:extLst>
                <a:ext uri="{FF2B5EF4-FFF2-40B4-BE49-F238E27FC236}">
                  <a16:creationId xmlns:a16="http://schemas.microsoft.com/office/drawing/2014/main" id="{759E0439-E943-6A37-2536-69F7D44D99ED}"/>
                </a:ext>
              </a:extLst>
            </p:cNvPr>
            <p:cNvSpPr/>
            <p:nvPr/>
          </p:nvSpPr>
          <p:spPr>
            <a:xfrm>
              <a:off x="4433120" y="4276634"/>
              <a:ext cx="3147551" cy="370577"/>
            </a:xfrm>
            <a:prstGeom prst="roundRect">
              <a:avLst/>
            </a:prstGeom>
            <a:solidFill>
              <a:srgbClr val="156082">
                <a:alpha val="20000"/>
              </a:srgb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7939756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55435-AFAB-8CEC-5414-70A08489F2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 Session – Details on Start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5F3DEBD-8378-1CA9-EA62-D9E12C9E13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7016" y="1377764"/>
            <a:ext cx="8397968" cy="5243014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83E9F5-CD84-FD89-9AD3-6B06AB4B37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 For SAS Users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9DE188-4C79-94A7-C063-700AA7AF62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5A5612-A093-4C82-99C7-105DA87E15B9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493435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62F66-B653-C7F2-D82C-8A74D5FE2E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 Session – </a:t>
            </a:r>
            <a:r>
              <a:rPr lang="en-US" dirty="0" err="1"/>
              <a:t>sessionInfo</a:t>
            </a:r>
            <a:r>
              <a:rPr lang="en-US" dirty="0"/>
              <a:t>()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02692D3-5721-2CEB-F324-7232B641E8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 For SAS Users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67B97D-CE32-3265-041A-57B3A78AA2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5A5612-A093-4C82-99C7-105DA87E15B9}" type="slidenum">
              <a:rPr lang="en-US" smtClean="0"/>
              <a:t>21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6E6E60D-5825-0340-4C67-9D99612F0E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7426" y="1355883"/>
            <a:ext cx="8436071" cy="5502117"/>
          </a:xfrm>
          <a:prstGeom prst="rect">
            <a:avLst/>
          </a:prstGeom>
        </p:spPr>
      </p:pic>
      <p:grpSp>
        <p:nvGrpSpPr>
          <p:cNvPr id="29" name="Group 28">
            <a:extLst>
              <a:ext uri="{FF2B5EF4-FFF2-40B4-BE49-F238E27FC236}">
                <a16:creationId xmlns:a16="http://schemas.microsoft.com/office/drawing/2014/main" id="{201DEB91-4F11-21EE-480F-CD8C6AF74E83}"/>
              </a:ext>
            </a:extLst>
          </p:cNvPr>
          <p:cNvGrpSpPr/>
          <p:nvPr/>
        </p:nvGrpSpPr>
        <p:grpSpPr>
          <a:xfrm>
            <a:off x="1465006" y="5124762"/>
            <a:ext cx="10500851" cy="1733238"/>
            <a:chOff x="1465006" y="5124762"/>
            <a:chExt cx="10500851" cy="1733238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A1847FA6-08E9-37EF-AD2E-C6E0620FB3D3}"/>
                </a:ext>
              </a:extLst>
            </p:cNvPr>
            <p:cNvSpPr txBox="1"/>
            <p:nvPr/>
          </p:nvSpPr>
          <p:spPr>
            <a:xfrm>
              <a:off x="9124335" y="5124762"/>
              <a:ext cx="2841522" cy="52322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sz="2800" dirty="0"/>
                <a:t>7 Base Packages</a:t>
              </a:r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F3B18C94-187E-AE04-750C-64534A6803F1}"/>
                </a:ext>
              </a:extLst>
            </p:cNvPr>
            <p:cNvSpPr/>
            <p:nvPr/>
          </p:nvSpPr>
          <p:spPr>
            <a:xfrm>
              <a:off x="1465006" y="5938684"/>
              <a:ext cx="7659329" cy="919316"/>
            </a:xfrm>
            <a:prstGeom prst="roundRect">
              <a:avLst/>
            </a:prstGeom>
            <a:solidFill>
              <a:srgbClr val="156082">
                <a:alpha val="20000"/>
              </a:srgb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6B71B43C-9A5B-064C-06D6-332A1A82D73B}"/>
                </a:ext>
              </a:extLst>
            </p:cNvPr>
            <p:cNvCxnSpPr>
              <a:cxnSpLocks/>
              <a:endCxn id="7" idx="0"/>
            </p:cNvCxnSpPr>
            <p:nvPr/>
          </p:nvCxnSpPr>
          <p:spPr>
            <a:xfrm flipH="1">
              <a:off x="5294671" y="5373575"/>
              <a:ext cx="3952084" cy="565109"/>
            </a:xfrm>
            <a:prstGeom prst="straightConnector1">
              <a:avLst/>
            </a:prstGeom>
            <a:ln w="762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9869F021-B327-88A7-C279-4B5793A3A817}"/>
              </a:ext>
            </a:extLst>
          </p:cNvPr>
          <p:cNvGrpSpPr/>
          <p:nvPr/>
        </p:nvGrpSpPr>
        <p:grpSpPr>
          <a:xfrm>
            <a:off x="1465006" y="639273"/>
            <a:ext cx="10372541" cy="1747555"/>
            <a:chOff x="1465006" y="639273"/>
            <a:chExt cx="10372541" cy="1747555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A079292B-381D-8641-18D6-0154F5BE57C1}"/>
                </a:ext>
              </a:extLst>
            </p:cNvPr>
            <p:cNvSpPr txBox="1"/>
            <p:nvPr/>
          </p:nvSpPr>
          <p:spPr>
            <a:xfrm>
              <a:off x="8996025" y="639273"/>
              <a:ext cx="2841522" cy="52322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sz="2800" dirty="0"/>
                <a:t>R Version</a:t>
              </a:r>
            </a:p>
          </p:txBody>
        </p: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C8BD3C95-5C4D-0EF2-7C3B-1D7F2C589246}"/>
                </a:ext>
              </a:extLst>
            </p:cNvPr>
            <p:cNvCxnSpPr>
              <a:cxnSpLocks/>
              <a:stCxn id="9" idx="1"/>
              <a:endCxn id="18" idx="0"/>
            </p:cNvCxnSpPr>
            <p:nvPr/>
          </p:nvCxnSpPr>
          <p:spPr>
            <a:xfrm flipH="1">
              <a:off x="4075715" y="900883"/>
              <a:ext cx="4920310" cy="1171506"/>
            </a:xfrm>
            <a:prstGeom prst="straightConnector1">
              <a:avLst/>
            </a:prstGeom>
            <a:ln w="762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772FDAB7-8F78-C19E-54C9-1B3A70094F3E}"/>
                </a:ext>
              </a:extLst>
            </p:cNvPr>
            <p:cNvSpPr/>
            <p:nvPr/>
          </p:nvSpPr>
          <p:spPr>
            <a:xfrm>
              <a:off x="1465006" y="2072389"/>
              <a:ext cx="5221417" cy="314439"/>
            </a:xfrm>
            <a:prstGeom prst="roundRect">
              <a:avLst/>
            </a:prstGeom>
            <a:solidFill>
              <a:srgbClr val="156082">
                <a:alpha val="20000"/>
              </a:srgb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1CD4057F-495B-736A-CB47-C6B1766E3C20}"/>
              </a:ext>
            </a:extLst>
          </p:cNvPr>
          <p:cNvGrpSpPr/>
          <p:nvPr/>
        </p:nvGrpSpPr>
        <p:grpSpPr>
          <a:xfrm>
            <a:off x="1465006" y="3718800"/>
            <a:ext cx="10500851" cy="2161699"/>
            <a:chOff x="1465006" y="3718800"/>
            <a:chExt cx="10500851" cy="2161699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1A7CAC8B-086A-9B82-4CAC-B006707F1B7D}"/>
                </a:ext>
              </a:extLst>
            </p:cNvPr>
            <p:cNvSpPr txBox="1"/>
            <p:nvPr/>
          </p:nvSpPr>
          <p:spPr>
            <a:xfrm>
              <a:off x="8667134" y="3910506"/>
              <a:ext cx="3298723" cy="52322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sz="2800" dirty="0"/>
                <a:t>Local Details</a:t>
              </a:r>
            </a:p>
          </p:txBody>
        </p: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F068D44C-E926-F86D-52F4-C4832FFB5D99}"/>
                </a:ext>
              </a:extLst>
            </p:cNvPr>
            <p:cNvCxnSpPr>
              <a:cxnSpLocks/>
              <a:stCxn id="11" idx="1"/>
              <a:endCxn id="19" idx="3"/>
            </p:cNvCxnSpPr>
            <p:nvPr/>
          </p:nvCxnSpPr>
          <p:spPr>
            <a:xfrm flipH="1">
              <a:off x="6686423" y="4172116"/>
              <a:ext cx="1980711" cy="627534"/>
            </a:xfrm>
            <a:prstGeom prst="straightConnector1">
              <a:avLst/>
            </a:prstGeom>
            <a:ln w="762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F1CDCB41-1222-BBC7-29E8-8F0967E2F644}"/>
                </a:ext>
              </a:extLst>
            </p:cNvPr>
            <p:cNvSpPr/>
            <p:nvPr/>
          </p:nvSpPr>
          <p:spPr>
            <a:xfrm>
              <a:off x="1465006" y="3718800"/>
              <a:ext cx="5221417" cy="2161699"/>
            </a:xfrm>
            <a:prstGeom prst="roundRect">
              <a:avLst/>
            </a:prstGeom>
            <a:solidFill>
              <a:srgbClr val="156082">
                <a:alpha val="20000"/>
              </a:srgb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5638BC10-61B5-65B6-0D02-14052B548834}"/>
              </a:ext>
            </a:extLst>
          </p:cNvPr>
          <p:cNvGrpSpPr/>
          <p:nvPr/>
        </p:nvGrpSpPr>
        <p:grpSpPr>
          <a:xfrm>
            <a:off x="1465005" y="2183403"/>
            <a:ext cx="10500852" cy="776517"/>
            <a:chOff x="1465005" y="2183403"/>
            <a:chExt cx="10500852" cy="776517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4A59368D-8ECD-A30E-9153-8126A5DA76AE}"/>
                </a:ext>
              </a:extLst>
            </p:cNvPr>
            <p:cNvSpPr txBox="1"/>
            <p:nvPr/>
          </p:nvSpPr>
          <p:spPr>
            <a:xfrm>
              <a:off x="8667134" y="2183403"/>
              <a:ext cx="3298723" cy="52322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sz="2800" dirty="0"/>
                <a:t>Operating System</a:t>
              </a:r>
            </a:p>
          </p:txBody>
        </p: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8D1425E1-6851-A4A8-1180-21131C23905F}"/>
                </a:ext>
              </a:extLst>
            </p:cNvPr>
            <p:cNvCxnSpPr>
              <a:cxnSpLocks/>
              <a:stCxn id="10" idx="1"/>
              <a:endCxn id="20" idx="3"/>
            </p:cNvCxnSpPr>
            <p:nvPr/>
          </p:nvCxnSpPr>
          <p:spPr>
            <a:xfrm flipH="1">
              <a:off x="6686422" y="2445013"/>
              <a:ext cx="1980712" cy="210379"/>
            </a:xfrm>
            <a:prstGeom prst="straightConnector1">
              <a:avLst/>
            </a:prstGeom>
            <a:ln w="762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A485CFC0-B32A-9532-4B8A-5DC48F4C4B9C}"/>
                </a:ext>
              </a:extLst>
            </p:cNvPr>
            <p:cNvSpPr/>
            <p:nvPr/>
          </p:nvSpPr>
          <p:spPr>
            <a:xfrm>
              <a:off x="1465005" y="2350864"/>
              <a:ext cx="5221417" cy="609056"/>
            </a:xfrm>
            <a:prstGeom prst="roundRect">
              <a:avLst/>
            </a:prstGeom>
            <a:solidFill>
              <a:srgbClr val="156082">
                <a:alpha val="20000"/>
              </a:srgb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5404535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36397A-E8E3-DF2E-D384-84251C6F73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Open RStudio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C737C7-520F-206F-10D7-610C0CAEC8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A075D26-6B44-3C1B-5E03-AF6C593B05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 For SAS Users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ED2722-7AD3-3611-9A62-3439B2E6D5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5A5612-A093-4C82-99C7-105DA87E15B9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534162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0A673D-511F-8B86-7AA3-9030E301B8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1: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0430B4-E036-72EB-DFF5-E056843A07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Look at session details</a:t>
            </a:r>
          </a:p>
          <a:p>
            <a:r>
              <a:rPr lang="en-US" dirty="0"/>
              <a:t>Create new project “R4SASUsers”: File/New Project</a:t>
            </a:r>
          </a:p>
          <a:p>
            <a:r>
              <a:rPr lang="en-US" dirty="0"/>
              <a:t>Put all files for R For SAS Users into this folder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B7B2DAB-D628-603A-12B3-13C206EF16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 For SAS Users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49A1A13-F68D-2C3F-3679-154500156B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5A5612-A093-4C82-99C7-105DA87E15B9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325538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A4E4392-4703-9E49-B3DD-7211BAFA16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 For SAS Users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327FF3A-0747-2699-4716-B03FCB0AE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5A5612-A093-4C82-99C7-105DA87E15B9}" type="slidenum">
              <a:rPr lang="en-US" smtClean="0"/>
              <a:t>24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EF319AE-6195-96E7-1032-F11E1309BA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85918" y="0"/>
            <a:ext cx="8786621" cy="4595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643775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43F11EC-F9C8-0B33-F16A-B682FA6BCB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 For SAS Users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F2F96D6-CCDA-83CD-379F-F9E33F13F6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5A5612-A093-4C82-99C7-105DA87E15B9}" type="slidenum">
              <a:rPr lang="en-US" smtClean="0"/>
              <a:t>25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20D2387-CFF1-0EAF-D4D3-258C62BCE3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596" y="0"/>
            <a:ext cx="3130096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8B4DB8E-30A4-74E3-EF92-F46AD716FA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8600" y="1033652"/>
            <a:ext cx="6363251" cy="4549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576637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02566FE-9333-AF74-70F0-178E06CA7F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 For SAS Users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2B58816-72E7-4A45-5E72-7F40357288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5A5612-A093-4C82-99C7-105DA87E15B9}" type="slidenum">
              <a:rPr lang="en-US" smtClean="0"/>
              <a:t>26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EEEC859-A97B-A1BC-4028-48FB1733E0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085" y="256119"/>
            <a:ext cx="6378493" cy="455715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CD6C918-5809-25AB-653C-CA8042EB6D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6595" y="1626505"/>
            <a:ext cx="6348010" cy="4549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78325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A538F9B-9522-E3A1-E00C-10CC87C97D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 For SAS Users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69AE305-8EF4-C561-EFDF-9B45BAAD37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5A5612-A093-4C82-99C7-105DA87E15B9}" type="slidenum">
              <a:rPr lang="en-US" smtClean="0"/>
              <a:t>27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9C5493F-8F74-2B16-2C57-22DD5ECD0EF4}"/>
              </a:ext>
            </a:extLst>
          </p:cNvPr>
          <p:cNvSpPr txBox="1"/>
          <p:nvPr/>
        </p:nvSpPr>
        <p:spPr>
          <a:xfrm>
            <a:off x="3595251" y="-29497"/>
            <a:ext cx="5001497" cy="64633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3600" dirty="0"/>
              <a:t>Put Files Into This Folder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7ED89B2-5863-9D59-43BB-DC521D283F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3917" y="639838"/>
            <a:ext cx="10684166" cy="5578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814345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841AF963-F7FA-38E0-F203-3A55468635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9075"/>
            <a:ext cx="12192000" cy="6419850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E6D2401-85E4-35E9-6759-A007FADBCD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 For SAS Users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77B2118-CE82-B4FD-AD6E-0C2905DA0E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5A5612-A093-4C82-99C7-105DA87E15B9}" type="slidenum">
              <a:rPr lang="en-US" smtClean="0"/>
              <a:t>28</a:t>
            </a:fld>
            <a:endParaRPr lang="en-US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A44025A-34CE-01EC-1349-99DED3106AEC}"/>
              </a:ext>
            </a:extLst>
          </p:cNvPr>
          <p:cNvCxnSpPr>
            <a:cxnSpLocks/>
            <a:stCxn id="14" idx="3"/>
          </p:cNvCxnSpPr>
          <p:nvPr/>
        </p:nvCxnSpPr>
        <p:spPr>
          <a:xfrm flipV="1">
            <a:off x="5720106" y="1907458"/>
            <a:ext cx="1604926" cy="4043177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2AC327BE-4999-5BDB-ED24-2BD5BB044344}"/>
              </a:ext>
            </a:extLst>
          </p:cNvPr>
          <p:cNvSpPr txBox="1"/>
          <p:nvPr/>
        </p:nvSpPr>
        <p:spPr>
          <a:xfrm>
            <a:off x="2764425" y="5627469"/>
            <a:ext cx="2955681" cy="64633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3600" dirty="0"/>
              <a:t>Project Folder</a:t>
            </a:r>
          </a:p>
        </p:txBody>
      </p:sp>
    </p:spTree>
    <p:extLst>
      <p:ext uri="{BB962C8B-B14F-4D97-AF65-F5344CB8AC3E}">
        <p14:creationId xmlns:p14="http://schemas.microsoft.com/office/powerpoint/2010/main" val="25807035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802</TotalTime>
  <Words>598</Words>
  <Application>Microsoft Office PowerPoint</Application>
  <PresentationFormat>Widescreen</PresentationFormat>
  <Paragraphs>152</Paragraphs>
  <Slides>28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2" baseType="lpstr">
      <vt:lpstr>Aptos</vt:lpstr>
      <vt:lpstr>Aptos Display</vt:lpstr>
      <vt:lpstr>Arial</vt:lpstr>
      <vt:lpstr>Office Theme</vt:lpstr>
      <vt:lpstr>R for SAS Users</vt:lpstr>
      <vt:lpstr>2-day Workshop: May 28-29, 2026</vt:lpstr>
      <vt:lpstr>Workshop Resources</vt:lpstr>
      <vt:lpstr>Compare R and SAS</vt:lpstr>
      <vt:lpstr>My Current SAS License Includes:</vt:lpstr>
      <vt:lpstr>SAS Software Components</vt:lpstr>
      <vt:lpstr>My Current R - Base Installation</vt:lpstr>
      <vt:lpstr>Interfaces – SAS Base; SAS Studio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Interfaces – R Basic; Rstudio IDE; Positron</vt:lpstr>
      <vt:lpstr>PowerPoint Presentation</vt:lpstr>
      <vt:lpstr>PowerPoint Presentation</vt:lpstr>
      <vt:lpstr>PowerPoint Presentation</vt:lpstr>
      <vt:lpstr>PowerPoint Presentation</vt:lpstr>
      <vt:lpstr>SAS Session</vt:lpstr>
      <vt:lpstr>R Session – Details on Start</vt:lpstr>
      <vt:lpstr>R Session – sessionInfo()</vt:lpstr>
      <vt:lpstr>Open RStudio</vt:lpstr>
      <vt:lpstr>Exercise 1: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Emory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Higgins, Melinda K</dc:creator>
  <cp:lastModifiedBy>Higgins, Melinda K</cp:lastModifiedBy>
  <cp:revision>42</cp:revision>
  <dcterms:created xsi:type="dcterms:W3CDTF">2026-05-10T11:48:59Z</dcterms:created>
  <dcterms:modified xsi:type="dcterms:W3CDTF">2026-05-16T21:09:56Z</dcterms:modified>
</cp:coreProperties>
</file>