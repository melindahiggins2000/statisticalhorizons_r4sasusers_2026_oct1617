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0" r:id="rId4"/>
    <p:sldId id="258" r:id="rId5"/>
    <p:sldId id="259" r:id="rId6"/>
    <p:sldId id="260" r:id="rId7"/>
    <p:sldId id="262" r:id="rId8"/>
    <p:sldId id="261" r:id="rId9"/>
    <p:sldId id="266" r:id="rId10"/>
    <p:sldId id="281" r:id="rId11"/>
    <p:sldId id="265" r:id="rId12"/>
    <p:sldId id="264" r:id="rId13"/>
    <p:sldId id="263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7" r:id="rId22"/>
    <p:sldId id="278" r:id="rId23"/>
    <p:sldId id="279" r:id="rId24"/>
    <p:sldId id="280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A2093-2BBD-4A1D-8977-65611E8EEBD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CCF9-FE3C-4113-B813-79AD2CFB5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5C3C-0BEA-E2B6-18FB-18E890F2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912E8-5DE9-8A11-3BD1-6F0291E47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38FC-5822-09D5-02A9-E5C1937C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C024F-E448-4F00-834F-E013F5ACFA28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2A376-D8BB-B188-0D89-C2FDBCE7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1E0A-2212-251B-93FD-F7097A70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6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BBE-8E36-63A3-5EC6-9B2B9A83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2A3F0-767E-2368-97C3-FC372F15B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C13A-48E7-81EF-6944-E28F1401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334B-4718-4F27-B465-1FC3A7E260D0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12E35-6025-BE7E-A131-15DDDF12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67C1-622B-9684-55F9-330925CB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7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D08B-CFBC-7A60-F269-1A24D437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7AD28-EA19-AFA7-2C95-388521046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891D7-9C43-EA37-83AF-1A6BA0DA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0542-D347-49D2-89AB-ACF501A63839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FC2DE-91BD-37B7-4290-7D978D93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7155-0B77-69FA-7A55-1C225AA9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5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1DA8-68D8-8A0A-6672-FA4244AB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DDE5-33F4-96CB-185F-757B6E0DB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102CC-68B3-5EF6-1D81-7E8C4FFBF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AF9C6-3096-E765-7120-03C4669E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A548-5D04-4E2D-8F1E-1F5F8C64118C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F4BAE-1C26-5070-23A6-71458D0E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FB81F-9DF8-1BDB-88E4-3FC2137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8123-F2F7-BB5D-346B-4AABBC91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CFFE-AECC-9629-2A4F-C271A91F7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CBD25-C580-C654-B915-2361603A4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4AF41-E4D3-0BDD-5592-C66D274C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F506A-0CCB-BB66-A1B8-7F643F632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92578-8309-64B8-AB3C-D438F376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8E64-D028-471D-86BA-827CB70154DE}" type="datetime1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21174-3B08-80CB-7870-02C42259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24C5A-3855-4BFE-34E2-1B4F8D51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8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58EC-C4D3-D8A7-CE95-5D1CA5BD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2EDF8-E637-D1C7-C08A-2D3494DC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0037E-DE84-4018-A47F-D927039DA930}" type="datetime1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D5E35-357C-75F3-9C58-5626CC81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BD3A4-8763-00CF-E6F5-257B4944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9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3A085-678A-A4C3-E18F-7E070EA1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F86A-C250-49C1-99A8-6AD4F643A4B9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6B6CC-B102-5220-D4C0-FC8A21AF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0F96C-4453-C64B-C959-DC6DE920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2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620D-D300-AB93-0FAA-DE55B9B02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0AE6-B817-C290-DC20-17B42977C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9F82-62E4-4185-730C-1C9D546CA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E68EE-AFAA-B56D-D400-4E6DBCB9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B327-5E43-49A5-86DA-7A09626F0D99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DC82B-3609-2E49-08B9-8DB7BB19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1C850-DC63-54C5-FEE8-712D48D1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8A4B-440D-38E9-B301-2106A743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1B4DD-54E8-F816-2636-77236ED91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EF537-3F7F-5269-A46C-9BAD6E6F7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8E7DC-1186-A350-F453-208074C3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B7E-257D-4BAA-9D5A-5764D7394611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06D43-AB13-E271-0142-73263B8C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8C88F-C11C-319A-80B0-86A4C7B5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0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4F6CF-B22E-6769-1214-3CA9F14A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C4C93-1CEA-DF59-EE5B-8F62D598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95518-B979-3758-1180-D1739C13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AAB5-584D-47E4-95D7-0EC569286A63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B64D9-5D55-2E36-C5D0-ED2A5954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14B45-FAC8-97C8-48F5-A2313FEF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7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D9BC45-1B0E-029E-501D-9EAC3C620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6C09D-B20D-7B12-1986-22BF6991A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1AF4-EFE5-FEB2-452A-4DB1EFED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6F1AF-968F-4440-90AF-715030A8703D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B7B99-F687-CBFC-21A1-AFFCBC69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7F0BA-F1FD-15F2-69D9-22BF333C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355E5-EB9C-435E-09E7-97E06B74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E96CA-F537-F4F0-CD24-EAA75294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92075-7EBD-FE99-902A-9620F7BA6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9D1E7-A0F1-49BC-931B-D31F530AFC9B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514D5-3EEF-91FE-82A1-AC66FDCC5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B81AD-D13F-138A-220A-14704B539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A5612-A093-4C82-99C7-105DA87E15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4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sticalhorizons.com/seminars/r-sas-user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2sasusers" TargetMode="External"/><Relationship Id="rId2" Type="http://schemas.openxmlformats.org/officeDocument/2006/relationships/hyperlink" Target="https://r-for-sas-users-sh.slack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horton.people.amherst.edu/sasr2/" TargetMode="External"/><Relationship Id="rId4" Type="http://schemas.openxmlformats.org/officeDocument/2006/relationships/hyperlink" Target="https://nhorton.people.amherst.edu/sasr2/datasets.ph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sitron.posit.co/migrate-rstudio-compare.html" TargetMode="External"/><Relationship Id="rId4" Type="http://schemas.openxmlformats.org/officeDocument/2006/relationships/hyperlink" Target="https://positron.posit.co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ADF8-C36F-C2B7-47FC-D2BDD919F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for SAS Users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581EB-66C3-EA1F-86D9-CEE1B44F1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Melinda Higgins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https://statisticalhorizons.com/seminars/r-sas-users/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5ADE9-1649-CD07-81EC-C3B5D5EA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8394F-15AD-F5AB-EBC3-1B1751B6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D7FD-DC18-023F-AFB9-B4E5A993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2-day Workshop: May 28-29,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738-A54C-DE70-F8CB-5817675F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Day 1: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1:00 - 3:00 pm</a:t>
            </a:r>
          </a:p>
          <a:p>
            <a:endParaRPr lang="en-US" dirty="0"/>
          </a:p>
          <a:p>
            <a:r>
              <a:rPr lang="en-US" dirty="0"/>
              <a:t>Day 2: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1:00 - 3:00 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i="1" dirty="0"/>
              <a:t>All Times EDT (Eastern Daylight Time = UTC-4)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1AA81-944F-CC9D-1D0F-05AFD48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E8D56-6C13-FEED-7B04-2A3AD03F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4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54B0-908F-1AB9-3024-AB1DCE7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C81-3EFE-E04D-DF41-693AEFCC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GoogleDrive</a:t>
            </a:r>
            <a:endParaRPr lang="en-US" dirty="0"/>
          </a:p>
          <a:p>
            <a:pPr lvl="1"/>
            <a:r>
              <a:rPr lang="en-US" dirty="0"/>
              <a:t>See Statistical Horizons Course Link</a:t>
            </a:r>
          </a:p>
          <a:p>
            <a:r>
              <a:rPr lang="en-US" dirty="0"/>
              <a:t>SLACK:</a:t>
            </a:r>
          </a:p>
          <a:p>
            <a:pPr lvl="1"/>
            <a:r>
              <a:rPr lang="en-US" u="sng" dirty="0">
                <a:hlinkClick r:id="rId2"/>
              </a:rPr>
              <a:t>https://r-for-sas-users-sh.slack.com</a:t>
            </a:r>
            <a:r>
              <a:rPr lang="en-US" u="sng" dirty="0"/>
              <a:t> </a:t>
            </a:r>
            <a:endParaRPr lang="en-US" dirty="0"/>
          </a:p>
          <a:p>
            <a:r>
              <a:rPr lang="en-US" dirty="0"/>
              <a:t>WEBSITE:</a:t>
            </a:r>
          </a:p>
          <a:p>
            <a:pPr lvl="1"/>
            <a:r>
              <a:rPr lang="en-US" dirty="0">
                <a:hlinkClick r:id="rId3"/>
              </a:rPr>
              <a:t>https://tinyurl.com/r2sasusers</a:t>
            </a:r>
            <a:r>
              <a:rPr lang="en-US" dirty="0"/>
              <a:t> </a:t>
            </a:r>
          </a:p>
          <a:p>
            <a:r>
              <a:rPr lang="en-US" dirty="0"/>
              <a:t>H.E.L.P. Dataset and “SAS and R” Book</a:t>
            </a:r>
          </a:p>
          <a:p>
            <a:pPr lvl="1"/>
            <a:r>
              <a:rPr lang="en-US" dirty="0">
                <a:hlinkClick r:id="rId4"/>
              </a:rPr>
              <a:t>https://nhorton.people.amherst.edu/sasr2/datasets.php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5"/>
              </a:rPr>
              <a:t>https://nhorton.people.amherst.edu/sasr2/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AEFDD-31A5-A37D-E550-59CD9610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8A360-42A8-3F1B-CDD0-478EEBBA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FC8397-2E2E-9D96-59CF-54AF88D2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R and SAS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4C96D3-CA80-07AC-257D-5BFB21B5B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6DFB4B-164E-036E-6061-AE5A7A676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Bare Bones (89MB)</a:t>
            </a:r>
          </a:p>
          <a:p>
            <a:r>
              <a:rPr lang="en-US" dirty="0"/>
              <a:t>Takes up little memory</a:t>
            </a:r>
          </a:p>
          <a:p>
            <a:r>
              <a:rPr lang="en-US" dirty="0"/>
              <a:t>Powerful base packages included</a:t>
            </a:r>
          </a:p>
          <a:p>
            <a:r>
              <a:rPr lang="en-US" dirty="0"/>
              <a:t>FREE/Open Source</a:t>
            </a:r>
          </a:p>
          <a:p>
            <a:r>
              <a:rPr lang="en-US" dirty="0"/>
              <a:t>Add “packages” as you go – only “load” what you need at that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6083BC0-06F6-B88B-8306-A43772E55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D138D3-F684-5D13-0B40-4315D0E2B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Have to buy base $$ &amp; Large (20GB+)</a:t>
            </a:r>
          </a:p>
          <a:p>
            <a:r>
              <a:rPr lang="en-US" dirty="0"/>
              <a:t>Almost always have to buy add-ons, gets expensive $$</a:t>
            </a:r>
          </a:p>
          <a:p>
            <a:r>
              <a:rPr lang="en-US" dirty="0"/>
              <a:t>Must know what you want ahead of time</a:t>
            </a:r>
          </a:p>
          <a:p>
            <a:r>
              <a:rPr lang="en-US" dirty="0"/>
              <a:t>Sometimes end up with more than you need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885F31-44C5-91B9-B8A6-DE967879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D66E64D-C0AC-69F8-EF36-97A9C83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8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170F-8849-6F48-EFDD-4275D827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8160"/>
          </a:xfrm>
        </p:spPr>
        <p:txBody>
          <a:bodyPr/>
          <a:lstStyle/>
          <a:p>
            <a:r>
              <a:rPr lang="en-US" dirty="0"/>
              <a:t>My Current SAS License Includes: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74203-DA8A-3CFE-1CAE-C77A99B1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2" y="822437"/>
            <a:ext cx="4861981" cy="603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AADF0-C493-A330-291E-24EFAAB6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39" y="868161"/>
            <a:ext cx="3856054" cy="5989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88403-0D1F-7051-D1FD-C6D1D83B3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944" y="1363801"/>
            <a:ext cx="3414056" cy="413039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92B388-0667-9A3D-0F39-EC2AB748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53EA32D-D11A-D376-E755-BB8C4501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60CA-0AD8-3CB0-339C-F98E3D2F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Current R - Base Installation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A764E-8F22-DBCF-7097-D3B61E19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751B1F5-CEF7-7C9C-FC5B-98942E374477}"/>
              </a:ext>
            </a:extLst>
          </p:cNvPr>
          <p:cNvGrpSpPr/>
          <p:nvPr/>
        </p:nvGrpSpPr>
        <p:grpSpPr>
          <a:xfrm>
            <a:off x="1465006" y="4531196"/>
            <a:ext cx="10038736" cy="2326804"/>
            <a:chOff x="1465006" y="4531196"/>
            <a:chExt cx="10038736" cy="232680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80C205-6CC4-C8AB-7B50-6FB69158D4AA}"/>
                </a:ext>
              </a:extLst>
            </p:cNvPr>
            <p:cNvSpPr txBox="1"/>
            <p:nvPr/>
          </p:nvSpPr>
          <p:spPr>
            <a:xfrm>
              <a:off x="8662220" y="4531196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800" dirty="0"/>
                <a:t>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10F884B-966B-BD38-F9A5-7910B208F8FD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E29530-8129-E491-6703-682BE186B66A}"/>
                </a:ext>
              </a:extLst>
            </p:cNvPr>
            <p:cNvCxnSpPr>
              <a:endCxn id="7" idx="0"/>
            </p:cNvCxnSpPr>
            <p:nvPr/>
          </p:nvCxnSpPr>
          <p:spPr>
            <a:xfrm flipH="1">
              <a:off x="5294671" y="4788310"/>
              <a:ext cx="3298723" cy="115037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F3E5D1-BD45-7DFE-44D9-EC6F7E39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950E3E-A4D3-CB99-C7E3-96CA994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4C53-E2A2-8F60-ACB1-6B96F9B1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SAS Base; SAS Studio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9D5DC-CE6F-286B-50BC-377E1AA8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9AA4-0EAD-7CB2-ACCC-05F90B4B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7FD470-6B70-949D-5F8D-FB3DBC843AD5}"/>
              </a:ext>
            </a:extLst>
          </p:cNvPr>
          <p:cNvGrpSpPr/>
          <p:nvPr/>
        </p:nvGrpSpPr>
        <p:grpSpPr>
          <a:xfrm>
            <a:off x="762000" y="0"/>
            <a:ext cx="10668000" cy="6858000"/>
            <a:chOff x="762000" y="0"/>
            <a:chExt cx="10668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688992-D104-3432-F761-36D06ED9C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0"/>
              <a:ext cx="10668000" cy="6858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339C3F-9058-F335-41E7-9A564EA77C06}"/>
                </a:ext>
              </a:extLst>
            </p:cNvPr>
            <p:cNvSpPr txBox="1"/>
            <p:nvPr/>
          </p:nvSpPr>
          <p:spPr>
            <a:xfrm>
              <a:off x="6931742" y="1690688"/>
              <a:ext cx="4050853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3600" dirty="0"/>
                <a:t>Basic SAS Interface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38B204-CEB4-C48A-3973-D6E071396280}"/>
              </a:ext>
            </a:extLst>
          </p:cNvPr>
          <p:cNvGrpSpPr/>
          <p:nvPr/>
        </p:nvGrpSpPr>
        <p:grpSpPr>
          <a:xfrm>
            <a:off x="1101178" y="0"/>
            <a:ext cx="10668000" cy="6858000"/>
            <a:chOff x="1101178" y="0"/>
            <a:chExt cx="10668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DA6D59-0299-4842-A006-44DCB9E74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178" y="0"/>
              <a:ext cx="9989643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DC5648-9A41-B37F-FB21-A2F5B223B012}"/>
                </a:ext>
              </a:extLst>
            </p:cNvPr>
            <p:cNvSpPr txBox="1"/>
            <p:nvPr/>
          </p:nvSpPr>
          <p:spPr>
            <a:xfrm>
              <a:off x="7527568" y="4640826"/>
              <a:ext cx="4241610" cy="120032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3600" dirty="0"/>
                <a:t>SAS Studio Interface</a:t>
              </a:r>
            </a:p>
            <a:p>
              <a:r>
                <a:rPr lang="en-US" sz="3600" dirty="0"/>
                <a:t>IDE/GUI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296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49A3-F0D4-0530-D748-07785CDC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R Basic; </a:t>
            </a:r>
            <a:r>
              <a:rPr lang="en-US" dirty="0" err="1"/>
              <a:t>Rstudio</a:t>
            </a:r>
            <a:r>
              <a:rPr lang="en-US" dirty="0"/>
              <a:t> IDE; Positron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287176-EEF7-BB9A-6C85-7CC4EB16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(from CRAN) – FREE – comes with a basic programming interface</a:t>
            </a:r>
          </a:p>
          <a:p>
            <a:pPr lvl="1"/>
            <a:r>
              <a:rPr lang="en-US" dirty="0">
                <a:hlinkClick r:id="rId2"/>
              </a:rPr>
              <a:t>https://cran.r-project.org/</a:t>
            </a:r>
            <a:r>
              <a:rPr lang="en-US" dirty="0"/>
              <a:t> </a:t>
            </a:r>
          </a:p>
          <a:p>
            <a:r>
              <a:rPr lang="en-US" dirty="0" err="1"/>
              <a:t>Rstudio</a:t>
            </a:r>
            <a:r>
              <a:rPr lang="en-US" dirty="0"/>
              <a:t> is an IDE = Integrated Development Environment</a:t>
            </a:r>
          </a:p>
          <a:p>
            <a:pPr lvl="1"/>
            <a:r>
              <a:rPr lang="en-US" dirty="0">
                <a:hlinkClick r:id="rId3"/>
              </a:rPr>
              <a:t>https://posit.co/download/rstudio-desktop</a:t>
            </a:r>
            <a:r>
              <a:rPr lang="en-US" dirty="0"/>
              <a:t> </a:t>
            </a:r>
          </a:p>
          <a:p>
            <a:r>
              <a:rPr lang="en-US" dirty="0"/>
              <a:t>Positron is the next evolution of programming interfaces</a:t>
            </a:r>
          </a:p>
          <a:p>
            <a:pPr lvl="1"/>
            <a:r>
              <a:rPr lang="en-US" dirty="0">
                <a:hlinkClick r:id="rId4"/>
              </a:rPr>
              <a:t>https://positron.posit.co/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Learn more, </a:t>
            </a:r>
            <a:r>
              <a:rPr lang="en-US" dirty="0">
                <a:hlinkClick r:id="rId5"/>
              </a:rPr>
              <a:t>https://positron.posit.co/migrate-rstudio-compare.html</a:t>
            </a:r>
            <a:r>
              <a:rPr lang="en-U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6CA51-5F29-498C-2F6E-23EA36BC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FB482-C06D-B999-2183-3E824C61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9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55CA8-443E-6898-D46F-50DA487B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798D5-038C-D0EA-D574-3106F94C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3" y="0"/>
            <a:ext cx="10800594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04737-8C6C-EEF2-02C7-64CB3A6C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DD38-7319-8910-7CA8-F3951834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333A9-2C41-CD50-4321-3DE77057BA5E}"/>
              </a:ext>
            </a:extLst>
          </p:cNvPr>
          <p:cNvSpPr txBox="1"/>
          <p:nvPr/>
        </p:nvSpPr>
        <p:spPr>
          <a:xfrm>
            <a:off x="7557064" y="1474838"/>
            <a:ext cx="353718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301110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3AABE-4062-C6D7-518E-65B5D58F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927BD-F656-23FB-1C7B-CA99761E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8DAEE-984C-696E-D1A7-D9E13A4A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2AC8C-0095-32DB-3F1E-F403A698F9D5}"/>
              </a:ext>
            </a:extLst>
          </p:cNvPr>
          <p:cNvSpPr txBox="1"/>
          <p:nvPr/>
        </p:nvSpPr>
        <p:spPr>
          <a:xfrm>
            <a:off x="4842836" y="0"/>
            <a:ext cx="250632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 err="1"/>
              <a:t>Rstudio</a:t>
            </a:r>
            <a:r>
              <a:rPr lang="en-US" sz="3600" dirty="0"/>
              <a:t> IDE</a:t>
            </a:r>
          </a:p>
        </p:txBody>
      </p:sp>
    </p:spTree>
    <p:extLst>
      <p:ext uri="{BB962C8B-B14F-4D97-AF65-F5344CB8AC3E}">
        <p14:creationId xmlns:p14="http://schemas.microsoft.com/office/powerpoint/2010/main" val="237287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723563-B67A-6091-2837-0A5A95AAD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12192000" cy="64643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1C981-F2C0-FA55-8667-25181E9F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AF576-A05F-6D61-5FA1-DBF7E9F7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8721B-D57F-ED41-DFD9-C15D15B982BA}"/>
              </a:ext>
            </a:extLst>
          </p:cNvPr>
          <p:cNvSpPr txBox="1"/>
          <p:nvPr/>
        </p:nvSpPr>
        <p:spPr>
          <a:xfrm>
            <a:off x="4786795" y="0"/>
            <a:ext cx="261840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Positron IDE</a:t>
            </a:r>
          </a:p>
        </p:txBody>
      </p:sp>
    </p:spTree>
    <p:extLst>
      <p:ext uri="{BB962C8B-B14F-4D97-AF65-F5344CB8AC3E}">
        <p14:creationId xmlns:p14="http://schemas.microsoft.com/office/powerpoint/2010/main" val="498682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D3A7-4A11-5BBB-E0F1-C4442368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 Session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7BFF5-E839-8027-7746-DAB7D7E9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17" y="1580990"/>
            <a:ext cx="8839966" cy="36960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DE9FC-BA8F-13E6-1663-FB951337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22A35-A3C8-1865-7981-77701576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7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5435-AFAB-8CEC-5414-70A08489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Details on Start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3DEBD-8378-1CA9-EA62-D9E12C9E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1377764"/>
            <a:ext cx="8397968" cy="524301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3E9F5-CD84-FD89-9AD3-6B06AB4B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E188-4C79-94A7-C063-700AA7AF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4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2F66-B653-C7F2-D82C-8A74D5FE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</a:t>
            </a:r>
            <a:r>
              <a:rPr lang="en-US" dirty="0" err="1"/>
              <a:t>sessionInfo</a:t>
            </a:r>
            <a:r>
              <a:rPr lang="en-US" dirty="0"/>
              <a:t>()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692D3-5721-2CEB-F324-7232B641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B97D-CE32-3265-041A-57B3A78A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6E60D-5825-0340-4C67-9D99612F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01DEB91-4F11-21EE-480F-CD8C6AF74E83}"/>
              </a:ext>
            </a:extLst>
          </p:cNvPr>
          <p:cNvGrpSpPr/>
          <p:nvPr/>
        </p:nvGrpSpPr>
        <p:grpSpPr>
          <a:xfrm>
            <a:off x="1465006" y="5124762"/>
            <a:ext cx="10500851" cy="1733238"/>
            <a:chOff x="1465006" y="5124762"/>
            <a:chExt cx="10500851" cy="17332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847FA6-08E9-37EF-AD2E-C6E0620FB3D3}"/>
                </a:ext>
              </a:extLst>
            </p:cNvPr>
            <p:cNvSpPr txBox="1"/>
            <p:nvPr/>
          </p:nvSpPr>
          <p:spPr>
            <a:xfrm>
              <a:off x="9124335" y="5124762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3B18C94-187E-AE04-750C-64534A6803F1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71B43C-9A5B-064C-06D6-332A1A82D73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flipH="1">
              <a:off x="5294671" y="5373575"/>
              <a:ext cx="3952084" cy="56510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69F021-B327-88A7-C279-4B5793A3A817}"/>
              </a:ext>
            </a:extLst>
          </p:cNvPr>
          <p:cNvGrpSpPr/>
          <p:nvPr/>
        </p:nvGrpSpPr>
        <p:grpSpPr>
          <a:xfrm>
            <a:off x="1465006" y="639273"/>
            <a:ext cx="10372541" cy="1747555"/>
            <a:chOff x="1465006" y="639273"/>
            <a:chExt cx="10372541" cy="17475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79292B-381D-8641-18D6-0154F5BE57C1}"/>
                </a:ext>
              </a:extLst>
            </p:cNvPr>
            <p:cNvSpPr txBox="1"/>
            <p:nvPr/>
          </p:nvSpPr>
          <p:spPr>
            <a:xfrm>
              <a:off x="8996025" y="639273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 Version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BD3C95-5C4D-0EF2-7C3B-1D7F2C589246}"/>
                </a:ext>
              </a:extLst>
            </p:cNvPr>
            <p:cNvCxnSpPr>
              <a:cxnSpLocks/>
              <a:stCxn id="9" idx="1"/>
              <a:endCxn id="18" idx="0"/>
            </p:cNvCxnSpPr>
            <p:nvPr/>
          </p:nvCxnSpPr>
          <p:spPr>
            <a:xfrm flipH="1">
              <a:off x="4075715" y="900883"/>
              <a:ext cx="4920310" cy="11715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2FDAB7-8F78-C19E-54C9-1B3A70094F3E}"/>
                </a:ext>
              </a:extLst>
            </p:cNvPr>
            <p:cNvSpPr/>
            <p:nvPr/>
          </p:nvSpPr>
          <p:spPr>
            <a:xfrm>
              <a:off x="1465006" y="2072389"/>
              <a:ext cx="5221417" cy="31443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D4057F-495B-736A-CB47-C6B1766E3C20}"/>
              </a:ext>
            </a:extLst>
          </p:cNvPr>
          <p:cNvGrpSpPr/>
          <p:nvPr/>
        </p:nvGrpSpPr>
        <p:grpSpPr>
          <a:xfrm>
            <a:off x="1465006" y="3718800"/>
            <a:ext cx="10500851" cy="2161699"/>
            <a:chOff x="1465006" y="3718800"/>
            <a:chExt cx="10500851" cy="21616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7CAC8B-086A-9B82-4CAC-B006707F1B7D}"/>
                </a:ext>
              </a:extLst>
            </p:cNvPr>
            <p:cNvSpPr txBox="1"/>
            <p:nvPr/>
          </p:nvSpPr>
          <p:spPr>
            <a:xfrm>
              <a:off x="8667134" y="391050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Local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68D44C-E926-F86D-52F4-C4832FFB5D99}"/>
                </a:ext>
              </a:extLst>
            </p:cNvPr>
            <p:cNvCxnSpPr>
              <a:cxnSpLocks/>
              <a:stCxn id="11" idx="1"/>
              <a:endCxn id="19" idx="3"/>
            </p:cNvCxnSpPr>
            <p:nvPr/>
          </p:nvCxnSpPr>
          <p:spPr>
            <a:xfrm flipH="1">
              <a:off x="6686423" y="4172116"/>
              <a:ext cx="1980711" cy="62753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CDCB41-1222-BBC7-29E8-8F0967E2F644}"/>
                </a:ext>
              </a:extLst>
            </p:cNvPr>
            <p:cNvSpPr/>
            <p:nvPr/>
          </p:nvSpPr>
          <p:spPr>
            <a:xfrm>
              <a:off x="1465006" y="3718800"/>
              <a:ext cx="5221417" cy="216169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38BC10-61B5-65B6-0D02-14052B548834}"/>
              </a:ext>
            </a:extLst>
          </p:cNvPr>
          <p:cNvGrpSpPr/>
          <p:nvPr/>
        </p:nvGrpSpPr>
        <p:grpSpPr>
          <a:xfrm>
            <a:off x="1465005" y="2183403"/>
            <a:ext cx="10500852" cy="776517"/>
            <a:chOff x="1465005" y="2183403"/>
            <a:chExt cx="10500852" cy="7765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59368D-8ECD-A30E-9153-8126A5DA76AE}"/>
                </a:ext>
              </a:extLst>
            </p:cNvPr>
            <p:cNvSpPr txBox="1"/>
            <p:nvPr/>
          </p:nvSpPr>
          <p:spPr>
            <a:xfrm>
              <a:off x="8667134" y="2183403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1425E1-6851-A4A8-1180-21131C23905F}"/>
                </a:ext>
              </a:extLst>
            </p:cNvPr>
            <p:cNvCxnSpPr>
              <a:cxnSpLocks/>
              <a:stCxn id="10" idx="1"/>
              <a:endCxn id="20" idx="3"/>
            </p:cNvCxnSpPr>
            <p:nvPr/>
          </p:nvCxnSpPr>
          <p:spPr>
            <a:xfrm flipH="1">
              <a:off x="6686422" y="2445013"/>
              <a:ext cx="1980712" cy="21037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485CFC0-B32A-9532-4B8A-5DC48F4C4B9C}"/>
                </a:ext>
              </a:extLst>
            </p:cNvPr>
            <p:cNvSpPr/>
            <p:nvPr/>
          </p:nvSpPr>
          <p:spPr>
            <a:xfrm>
              <a:off x="1465005" y="2350864"/>
              <a:ext cx="5221417" cy="60905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04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397A-E8E3-DF2E-D384-84251C6F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RStudio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737C7-520F-206F-10D7-610C0CAEC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75D26-6B44-3C1B-5E03-AF6C593B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D2722-7AD3-3611-9A62-3439B2E6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41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673D-511F-8B86-7AA3-9030E301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30B4-E036-72EB-DFF5-E056843A0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session details</a:t>
            </a:r>
          </a:p>
          <a:p>
            <a:r>
              <a:rPr lang="en-US" dirty="0"/>
              <a:t>Create new project “R4SASUsers”</a:t>
            </a:r>
          </a:p>
          <a:p>
            <a:r>
              <a:rPr lang="en-US" dirty="0"/>
              <a:t>Put all files for R For SAS Users into this folder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B2DAB-D628-603A-12B3-13C206EF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A1A13-F68D-2C3F-3679-15450015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55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1F857D-5081-3662-C754-72C33B8E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B3CB7-A7B2-687B-3F7A-90C2F869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BEB2F-AC58-E193-EFB8-5B45C93F7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8" y="176084"/>
            <a:ext cx="3307367" cy="2217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267DC7-569B-81F5-B956-83D37E7D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195" y="376468"/>
            <a:ext cx="6348010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3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E3870D-A6D2-FCC8-DE2D-F297051C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B33FC6-38E4-A9F4-50E0-4A7D4ACA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61DDD-341D-F349-8ACB-5943B3A9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1154233"/>
            <a:ext cx="6340389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30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95C2DB-7361-77A5-6C25-121C2882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487601-F591-BD35-5979-1EF10252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10AF3-7897-C104-EF67-70370962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192"/>
            <a:ext cx="12192000" cy="643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18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892A9E-AEC5-C290-49ED-60F3A800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458A1-BEA6-1E7D-5FB7-70F7A9AE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04ED8-86C6-5403-A17C-ECE9CC497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21" y="0"/>
            <a:ext cx="7617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4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C6F50C-AAAF-5A3E-C902-A283B765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5E10C9-F8BB-0CC1-2F23-F92A043B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7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7D4DB5-07F1-53BB-37A5-232E3755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C6B511-5AF4-BA20-F7A1-3DFECC8E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50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A16F3-C748-A49B-A65E-5F550353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49685-BFB4-FF82-E816-0061F3E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60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4E0364-304B-6C81-19B3-00D7B0B3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0A063C-366A-6CD1-E3DB-372B8A58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85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9F12EB-9BC3-3571-9328-0C6F0499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B61AAB-E0A0-9B9C-C87D-5A7CCBCA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1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230B4E-5D5B-2EB0-E19B-655C3D7B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E1741-CC66-21CA-462F-99A3AD36B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3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501</Words>
  <Application>Microsoft Office PowerPoint</Application>
  <PresentationFormat>Widescreen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R for SAS Users</vt:lpstr>
      <vt:lpstr>2-day Workshop: May 28-29, 2026</vt:lpstr>
      <vt:lpstr>Workshop Resources</vt:lpstr>
      <vt:lpstr>Compare R and SAS</vt:lpstr>
      <vt:lpstr>My Current SAS License Includes:</vt:lpstr>
      <vt:lpstr>My Current R - Base Installation</vt:lpstr>
      <vt:lpstr>Interfaces – SAS Base; SAS Studio</vt:lpstr>
      <vt:lpstr>Interfaces – R Basic; Rstudio IDE; Positron</vt:lpstr>
      <vt:lpstr>PowerPoint Presentation</vt:lpstr>
      <vt:lpstr>PowerPoint Presentation</vt:lpstr>
      <vt:lpstr>PowerPoint Presentation</vt:lpstr>
      <vt:lpstr>SAS Session</vt:lpstr>
      <vt:lpstr>R Session – Details on Start</vt:lpstr>
      <vt:lpstr>R Session – sessionInfo()</vt:lpstr>
      <vt:lpstr>Open RStudio</vt:lpstr>
      <vt:lpstr>Exercise 1: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18</cp:revision>
  <dcterms:created xsi:type="dcterms:W3CDTF">2026-05-10T11:48:59Z</dcterms:created>
  <dcterms:modified xsi:type="dcterms:W3CDTF">2026-05-10T23:02:33Z</dcterms:modified>
</cp:coreProperties>
</file>